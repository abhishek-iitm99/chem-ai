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C0392B"/>
              </a:solidFill>
            </c:spPr>
          </c:dPt>
          <c:dPt>
            <c:idx val="1"/>
            <c:spPr>
              <a:solidFill>
                <a:srgbClr val="C9D3DD"/>
              </a:solidFill>
            </c:spPr>
          </c:dPt>
          <c:cat>
            <c:strRef>
              <c:f>Sheet1!$A$2:$A$3</c:f>
              <c:strCache>
                <c:ptCount val="2"/>
                <c:pt idx="0">
                  <c:v>Oil &amp; gas companies</c:v>
                </c:pt>
                <c:pt idx="1">
                  <c:v>Other sources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55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US$ millions</c:v>
                </c:pt>
              </c:strCache>
            </c:strRef>
          </c:tx>
          <c:spPr>
            <a:solidFill>
              <a:srgbClr val="142A4A"/>
            </a:solidFill>
          </c:spPr>
          <c:dPt>
            <c:idx val="0"/>
            <c:spPr>
              <a:solidFill>
                <a:srgbClr val="6FC9BF"/>
              </a:solidFill>
            </c:spPr>
          </c:dPt>
          <c:dPt>
            <c:idx val="1"/>
            <c:spPr>
              <a:solidFill>
                <a:srgbClr val="129A8E"/>
              </a:solidFill>
            </c:spPr>
          </c:dPt>
          <c:dPt>
            <c:idx val="2"/>
            <c:spPr>
              <a:solidFill>
                <a:srgbClr val="142A4A"/>
              </a:solidFill>
            </c:spPr>
          </c:dPt>
          <c:dPt>
            <c:idx val="3"/>
            <c:spPr>
              <a:solidFill>
                <a:srgbClr val="E88A1A"/>
              </a:solidFill>
            </c:spPr>
          </c:dPt>
          <c:cat>
            <c:strRef>
              <c:f>Sheet1!$A$2:$A$5</c:f>
              <c:strCache>
                <c:ptCount val="4"/>
                <c:pt idx="0">
                  <c:v>DOE univ.
training</c:v>
                </c:pt>
                <c:pt idx="1">
                  <c:v>DOE univ.
decarb #1</c:v>
                </c:pt>
                <c:pt idx="2">
                  <c:v>DOE carbon
mgmt</c:v>
                </c:pt>
                <c:pt idx="3">
                  <c:v>OCED
CCUS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2.5</c:v>
                </c:pt>
                <c:pt idx="1">
                  <c:v>17</c:v>
                </c:pt>
                <c:pt idx="2">
                  <c:v>54.4</c:v>
                </c:pt>
                <c:pt idx="3">
                  <c:v>1300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21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AI as share of work / revenue (%)</c:v>
                </c:pt>
              </c:strCache>
            </c:strRef>
          </c:tx>
          <c:spPr>
            <a:solidFill>
              <a:srgbClr val="142A4A"/>
            </a:solidFill>
          </c:spPr>
          <c:dPt>
            <c:idx val="0"/>
            <c:spPr>
              <a:solidFill>
                <a:srgbClr val="129A8E"/>
              </a:solidFill>
            </c:spPr>
          </c:dPt>
          <c:dPt>
            <c:idx val="1"/>
            <c:spPr>
              <a:solidFill>
                <a:srgbClr val="142A4A"/>
              </a:solidFill>
            </c:spPr>
          </c:dPt>
          <c:dPt>
            <c:idx val="2"/>
            <c:spPr>
              <a:solidFill>
                <a:srgbClr val="8A97A6"/>
              </a:solidFill>
            </c:spPr>
          </c:dPt>
          <c:cat>
            <c:strRef>
              <c:f>Sheet1!$A$2:$A$4</c:f>
              <c:strCache>
                <c:ptCount val="3"/>
                <c:pt idx="0">
                  <c:v>BCG</c:v>
                </c:pt>
                <c:pt idx="1">
                  <c:v>McKinsey</c:v>
                </c:pt>
                <c:pt idx="2">
                  <c:v>Accenture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40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Now ($B)</c:v>
                </c:pt>
              </c:strCache>
            </c:strRef>
          </c:tx>
          <c:spPr>
            <a:solidFill>
              <a:srgbClr val="6FC9BF"/>
            </a:solidFill>
          </c:spPr>
          <c:cat>
            <c:strRef>
              <c:f>Sheet1!$A$2:$A$6</c:f>
              <c:strCache>
                <c:ptCount val="5"/>
                <c:pt idx="0">
                  <c:v>Adv. Process
Control sw</c:v>
                </c:pt>
                <c:pt idx="1">
                  <c:v>Process Sim &amp;
Optimization sw</c:v>
                </c:pt>
                <c:pt idx="2">
                  <c:v>AI energy
optimization</c:v>
                </c:pt>
                <c:pt idx="3">
                  <c:v>Digital Twin in
Oil &amp; Gas</c:v>
                </c:pt>
                <c:pt idx="4">
                  <c:v>AI in
Manufacturing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</c:v>
                </c:pt>
                <c:pt idx="1">
                  <c:v>5.2</c:v>
                </c:pt>
                <c:pt idx="2">
                  <c:v>5.0</c:v>
                </c:pt>
                <c:pt idx="3">
                  <c:v>1.3</c:v>
                </c:pt>
                <c:pt idx="4">
                  <c:v>34.0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 ($B)</c:v>
                </c:pt>
              </c:strCache>
            </c:strRef>
          </c:tx>
          <c:spPr>
            <a:solidFill>
              <a:srgbClr val="142A4A"/>
            </a:solidFill>
          </c:spPr>
          <c:cat>
            <c:strRef>
              <c:f>Sheet1!$A$2:$A$6</c:f>
              <c:strCache>
                <c:ptCount val="5"/>
                <c:pt idx="0">
                  <c:v>Adv. Process
Control sw</c:v>
                </c:pt>
                <c:pt idx="1">
                  <c:v>Process Sim &amp;
Optimization sw</c:v>
                </c:pt>
                <c:pt idx="2">
                  <c:v>AI energy
optimization</c:v>
                </c:pt>
                <c:pt idx="3">
                  <c:v>Digital Twin in
Oil &amp; Gas</c:v>
                </c:pt>
                <c:pt idx="4">
                  <c:v>AI in
Manufacturing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5.5</c:v>
                </c:pt>
                <c:pt idx="1">
                  <c:v>9.2</c:v>
                </c:pt>
                <c:pt idx="2">
                  <c:v>12.0</c:v>
                </c:pt>
                <c:pt idx="3">
                  <c:v>3.1</c:v>
                </c:pt>
                <c:pt idx="4">
                  <c:v>155.0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900" b="1">
                  <a:solidFill>
                    <a:srgbClr val="121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Segoe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142A4A"/>
            </a:solidFill>
          </c:spPr>
          <c:dPt>
            <c:idx val="0"/>
            <c:spPr>
              <a:solidFill>
                <a:srgbClr val="8A97A6"/>
              </a:solidFill>
            </c:spPr>
          </c:dPt>
          <c:dPt>
            <c:idx val="1"/>
            <c:spPr>
              <a:solidFill>
                <a:srgbClr val="C0392B"/>
              </a:solidFill>
            </c:spPr>
          </c:dPt>
          <c:dPt>
            <c:idx val="2"/>
            <c:spPr>
              <a:solidFill>
                <a:srgbClr val="E88A1A"/>
              </a:solidFill>
            </c:spPr>
          </c:dPt>
          <c:dPt>
            <c:idx val="3"/>
            <c:spPr>
              <a:solidFill>
                <a:srgbClr val="C0392B"/>
              </a:solidFill>
            </c:spPr>
          </c:dPt>
          <c:dPt>
            <c:idx val="4"/>
            <c:spPr>
              <a:solidFill>
                <a:srgbClr val="142A4A"/>
              </a:solidFill>
            </c:spPr>
          </c:dPt>
          <c:cat>
            <c:strRef>
              <c:f>Sheet1!$A$2:$A$6</c:f>
              <c:strCache>
                <c:ptCount val="5"/>
                <c:pt idx="0">
                  <c:v>Companies that
abandoned most AI
(2024)</c:v>
                </c:pt>
                <c:pt idx="1">
                  <c:v>Companies that
abandoned most AI
(2025)</c:v>
                </c:pt>
                <c:pt idx="2">
                  <c:v>Avg. AI POCs
scrapped pre-
production</c:v>
                </c:pt>
                <c:pt idx="3">
                  <c:v>AI projects that
fail to reach
production (RAND)</c:v>
                </c:pt>
                <c:pt idx="4">
                  <c:v>Manufacturers naming
data as #1 AI
barrier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</c:v>
                </c:pt>
                <c:pt idx="1">
                  <c:v>42</c:v>
                </c:pt>
                <c:pt idx="2">
                  <c:v>46</c:v>
                </c:pt>
                <c:pt idx="3">
                  <c:v>80</c:v>
                </c:pt>
                <c:pt idx="4">
                  <c:v>56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121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US$ billions</c:v>
                </c:pt>
              </c:strCache>
            </c:strRef>
          </c:tx>
          <c:spPr>
            <a:solidFill>
              <a:srgbClr val="142A4A"/>
            </a:solidFill>
          </c:spPr>
          <c:dPt>
            <c:idx val="0"/>
            <c:spPr>
              <a:solidFill>
                <a:srgbClr val="142A4A"/>
              </a:solidFill>
            </c:spPr>
          </c:dPt>
          <c:dPt>
            <c:idx val="1"/>
            <c:spPr>
              <a:solidFill>
                <a:srgbClr val="129A8E"/>
              </a:solidFill>
            </c:spPr>
          </c:dPt>
          <c:dPt>
            <c:idx val="2"/>
            <c:spPr>
              <a:solidFill>
                <a:srgbClr val="E88A1A"/>
              </a:solidFill>
            </c:spPr>
          </c:dPt>
          <c:dPt>
            <c:idx val="3"/>
            <c:spPr>
              <a:solidFill>
                <a:srgbClr val="E88A1A"/>
              </a:solidFill>
            </c:spPr>
          </c:dPt>
          <c:dPt>
            <c:idx val="4"/>
            <c:spPr>
              <a:solidFill>
                <a:srgbClr val="6FC9BF"/>
              </a:solidFill>
            </c:spPr>
          </c:dPt>
          <c:cat>
            <c:strRef>
              <c:f>Sheet1!$A$2:$A$6</c:f>
              <c:strCache>
                <c:ptCount val="5"/>
                <c:pt idx="0">
                  <c:v>UAE supplier
tech contracts</c:v>
                </c:pt>
                <c:pt idx="1">
                  <c:v>Decarbonization
commitment</c:v>
                </c:pt>
                <c:pt idx="2">
                  <c:v>Well digital-
ization program</c:v>
                </c:pt>
                <c:pt idx="3">
                  <c:v>AIQ ENERGYai
deployment</c:v>
                </c:pt>
                <c:pt idx="4">
                  <c:v>Value from 30+
AI systems (yr)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14.7</c:v>
                </c:pt>
                <c:pt idx="1">
                  <c:v>23.0</c:v>
                </c:pt>
                <c:pt idx="2">
                  <c:v>0.92</c:v>
                </c:pt>
                <c:pt idx="3">
                  <c:v>0.34</c:v>
                </c:pt>
                <c:pt idx="4">
                  <c:v>0.5</c:v>
                </c:pt>
              </c:numCache>
            </c:numRef>
          </c:val>
        </c:ser>
        <c:dLbls>
          <c:numFmt formatCode="$0.0" sourceLinked="0"/>
          <c:txPr>
            <a:bodyPr/>
            <a:lstStyle/>
            <a:p>
              <a:pPr>
                <a:defRPr sz="1100" b="1">
                  <a:solidFill>
                    <a:srgbClr val="121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FC9BF"/>
                </a:solidFill>
                <a:latin typeface="Segoe UI"/>
              </a:rPr>
              <a:t>RESEARCH BRIEFING  ·  v1  · 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9728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Follow the Money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8A97A6"/>
                </a:solidFill>
                <a:latin typeface="Segoe UI"/>
              </a:rPr>
              <a:t>Where funding actually flows in </a:t>
            </a:r>
            <a:r>
              <a:rPr sz="2200" b="1">
                <a:solidFill>
                  <a:srgbClr val="6FC9BF"/>
                </a:solidFill>
                <a:latin typeface="Segoe UI"/>
              </a:rPr>
              <a:t>industrial AI</a:t>
            </a:r>
            <a:r>
              <a:rPr sz="2200" b="0">
                <a:solidFill>
                  <a:srgbClr val="8A97A6"/>
                </a:solidFill>
                <a:latin typeface="Segoe UI"/>
              </a:rPr>
              <a:t>, before we fix our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Two questions we set out to answer: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29A8E"/>
                </a:solidFill>
                <a:latin typeface="Segoe UI"/>
              </a:rPr>
              <a:t>1   </a:t>
            </a:r>
            <a:r>
              <a:rPr sz="1600" b="0">
                <a:solidFill>
                  <a:srgbClr val="D7DEE6"/>
                </a:solidFill>
                <a:latin typeface="Segoe UI"/>
              </a:rPr>
              <a:t>Where are companies paying universities to do research — on which problems?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9A8E"/>
                </a:solidFill>
                <a:latin typeface="Segoe UI"/>
              </a:rPr>
              <a:t>2   </a:t>
            </a:r>
            <a:r>
              <a:rPr sz="1600" b="0">
                <a:solidFill>
                  <a:srgbClr val="D7DEE6"/>
                </a:solidFill>
                <a:latin typeface="Segoe UI"/>
              </a:rPr>
              <a:t>Where are big consulting &amp; software firms getting paid — to solve what?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Team: 3 founders  ·  IIT Madras  ·  Chemical Engineering +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WHY WE DID THIS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Don't pick a problem. Find the budget, then pick.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Follow the Money — Research v1  |  Trio (IIT Madras, ChemE × ML)  |  Hub71 Abu Dhabi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394960" cy="2194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3500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502920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C0392B"/>
                </a:solidFill>
                <a:latin typeface="Segoe UI"/>
              </a:rPr>
              <a:t>THE TRAP WE'RE AVOIDING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21B2B"/>
                </a:solidFill>
                <a:latin typeface="Segoe UI"/>
              </a:rPr>
              <a:t>Our draft idea (ThermoTwin) tried to solve ~10 industrial problems at once.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B2B"/>
                </a:solidFill>
                <a:latin typeface="Segoe UI"/>
              </a:rPr>
              <a:t>"We optimize everything" reads to investors as "we've validated nothing."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394960" cy="2194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63500" cy="219456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502920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29A8E"/>
                </a:solidFill>
                <a:latin typeface="Segoe UI"/>
              </a:rPr>
              <a:t>THE METHOD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21B2B"/>
                </a:solidFill>
                <a:latin typeface="Segoe UI"/>
              </a:rPr>
              <a:t>Map where real money already flows — corporate-funded research + consulting/software revenue.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B2B"/>
                </a:solidFill>
                <a:latin typeface="Segoe UI"/>
              </a:rPr>
              <a:t>Pick a wedge a budget already exists for. Evidence first, idea second.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B2B"/>
                </a:solidFill>
                <a:latin typeface="Segoe UI"/>
              </a:rPr>
              <a:t>Three places the money clearly flows (detail in later slides):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97680"/>
            <a:ext cx="36118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29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297680"/>
            <a:ext cx="3611880" cy="4572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52544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PLACE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32918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21B2B"/>
                </a:solidFill>
                <a:latin typeface="Segoe UI"/>
              </a:rPr>
              <a:t>Data-quality layer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Make plant data AI-ready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4297680"/>
            <a:ext cx="36118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4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4297680"/>
            <a:ext cx="3611880" cy="4572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4352544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PLACE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4892040"/>
            <a:ext cx="32918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21B2B"/>
                </a:solidFill>
                <a:latin typeface="Segoe UI"/>
              </a:rPr>
              <a:t>Self-learning digital twin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Energy &amp; CO₂ optimization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01584" y="4297680"/>
            <a:ext cx="36118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1584" y="4297680"/>
            <a:ext cx="3611880" cy="4572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4" y="4352544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PLACE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4892040"/>
            <a:ext cx="32918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21B2B"/>
                </a:solidFill>
                <a:latin typeface="Segoe UI"/>
              </a:rPr>
              <a:t>CCUS economics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Decarbonization + utilization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TASK 1 · ACADEMIA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Companies already pay universities to solve our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Follow the Money — Research v1  |  Trio (IIT Madras, ChemE × ML)  |  Hub71 Abu Dhabi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B6B7E"/>
                </a:solidFill>
                <a:latin typeface="Segoe UI"/>
              </a:rPr>
              <a:t>Energy &amp; decarbonization R&amp;D is deeply funded by industry — willingness-to-pay is proven.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828800"/>
          <a:ext cx="47548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760720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21B2B"/>
                </a:solidFill>
                <a:latin typeface="Segoe UI"/>
              </a:rPr>
              <a:t>MIT Energy Initiative: &gt;$1B raised since 2006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E"/>
                </a:solidFill>
                <a:latin typeface="Segoe UI"/>
              </a:rPr>
              <a:t>~45% came from oil &amp; gas companies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760720" y="1828800"/>
          <a:ext cx="594360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720" y="5257800"/>
            <a:ext cx="594360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1B2B"/>
                </a:solidFill>
                <a:latin typeface="Segoe UI"/>
              </a:rPr>
              <a:t>Recent US government co-funding (same problems)  ·  log-scale feel: CCUS dwarfs the rest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E"/>
                </a:solidFill>
                <a:latin typeface="Segoe UI"/>
              </a:rPr>
              <a:t>Takeaway: the academic frontier closest to our skills — hybrid / surrogate "self-learning twin" models — is funded science, not just a pitch.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TASK 2 · CONSULTING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AI + energy is the cash engine of every major firm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Follow the Money — Research v1  |  Trio (IIT Madras, ChemE × ML)  |  Hub71 Abu Dhabi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B6B7E"/>
                </a:solidFill>
                <a:latin typeface="Segoe UI"/>
              </a:rPr>
              <a:t>The biggest firms are reorganizing around exactly our space. That means budget — and competition.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828800"/>
          <a:ext cx="54864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5486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1B2B"/>
                </a:solidFill>
                <a:latin typeface="Segoe UI"/>
              </a:rPr>
              <a:t>Share of client work / revenue that now involves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303520" cy="40233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96596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9A8E"/>
                </a:solidFill>
                <a:latin typeface="Segoe UI"/>
              </a:rPr>
              <a:t>WHAT THEY'RE SELLING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42316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▸  McKinsey #1 in energy consulting (QuantumBlack AI). ~40% of work has AI.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▸  BCG: AI = ~20% of 2024 revenue; +1,000 AI hires; partnered with Anthropic.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▸  Accenture FY25: $69.7B revenue; AI revenue tripled to $2.7B; GenAI bookings $5.9B.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▸  Accenture launched "AI Refinery for Industry" — incl. industrial asset troubleshooting agents.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88A1A"/>
                </a:solidFill>
                <a:latin typeface="Segoe UI"/>
              </a:rPr>
              <a:t>▸  Big firms poured &gt;$10B into AI since 2023.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THE ARENA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Markets we'd play in — large and growing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Follow the Money — Research v1  |  Trio (IIT Madras, ChemE × ML)  |  Hub71 Abu Dhabi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6B7E"/>
                </a:solidFill>
                <a:latin typeface="Segoe UI"/>
              </a:rPr>
              <a:t>Directional analyst estimates (they disagree) — trust the direction: big + compounding.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828800"/>
          <a:ext cx="110642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0392B"/>
                </a:solidFill>
                <a:latin typeface="Segoe UI"/>
              </a:rPr>
              <a:t>Reality check:  </a:t>
            </a:r>
            <a:r>
              <a:rPr sz="1400" b="0">
                <a:solidFill>
                  <a:srgbClr val="121B2B"/>
                </a:solidFill>
                <a:latin typeface="Segoe UI"/>
              </a:rPr>
              <a:t>these arenas are NOT empty — AspenTech (Emerson), AVEVA, Honeywell own process optimization; Accenture is wrapping it in AI agents. Our wedge must be what they do badly.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THE #1 DEMAND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Industrial AI fails because of dirty data — not weak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Follow the Money — Research v1  |  Trio (IIT Madras, ChemE × ML)  |  Hub71 Abu Dhabi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371600"/>
          <a:ext cx="7498079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321040" y="1371600"/>
            <a:ext cx="3383280" cy="429768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1371600"/>
            <a:ext cx="63500" cy="429768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1600200"/>
            <a:ext cx="3017520" cy="3931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6FC9BF"/>
                </a:solidFill>
                <a:latin typeface="Segoe UI"/>
              </a:rPr>
              <a:t>WHY THIS IS GOLD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The market is screaming that the bottleneck is data — not optimization math.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CFD8E2"/>
                </a:solidFill>
                <a:latin typeface="Segoe UI"/>
              </a:rPr>
              <a:t>Aspen / AVEVA assume clean data. Consultants fix it by hand, billing huge hours.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FC9BF"/>
                </a:solidFill>
                <a:latin typeface="Segoe UI"/>
              </a:rPr>
              <a:t>Cleaning industrial data needs process knowledge — our ChemE edge is the moat.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Follow the Money — Research v1  |  Trio (IIT Madras, ChemE × ML)  |  Hub71 Abu Dhabi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LOCAL MONEY · HUB71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Abu Dhabi is already buying this —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Follow the Money — Research v1  |  Trio (IIT Madras, ChemE × ML)  |  Hub71 Abu Dhabi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371600"/>
          <a:ext cx="67665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589520" y="1371600"/>
            <a:ext cx="4114800" cy="4297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554480"/>
            <a:ext cx="3749039" cy="3931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29A8E"/>
                </a:solidFill>
                <a:latin typeface="Segoe UI"/>
              </a:rPr>
              <a:t>ADNOC IS SPENDING NOW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ENERGYai built with AIQ + Microsoft + G42; 70% gain in seismic accuracy.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21B2B"/>
                </a:solidFill>
                <a:latin typeface="Segoe UI"/>
              </a:rPr>
              <a:t>CCUS target: 10 mtpa CO₂ by 2030 · Net Zero 2045 · $15B low-carbon allocation.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8A1A"/>
                </a:solidFill>
                <a:latin typeface="Segoe UI"/>
              </a:rPr>
              <a:t>Our play:  </a:t>
            </a:r>
            <a:r>
              <a:rPr sz="1400" b="0">
                <a:solidFill>
                  <a:srgbClr val="121B2B"/>
                </a:solidFill>
                <a:latin typeface="Segoe UI"/>
              </a:rPr>
              <a:t>not displace AIQ/Accenture's platform — plug in as a specialized layer they underserve. That's exactly Hub71's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Where the money points: 3 wedges, ranked for our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Follow the Money — Research v1  |  Trio (IIT Madras, ChemE × ML)  |  Hub71 Abu Dhabi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11109960" cy="13075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822960" cy="1307592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822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435608"/>
            <a:ext cx="402336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21B2B"/>
                </a:solidFill>
                <a:latin typeface="Segoe UI"/>
              </a:rPr>
              <a:t>Industrial data-quality / contextualization layer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E"/>
                </a:solidFill>
                <a:latin typeface="Segoe UI"/>
              </a:rPr>
              <a:t>Make plant data AI-ready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417320"/>
            <a:ext cx="2926080" cy="1234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29A8E"/>
                </a:solidFill>
                <a:latin typeface="Segoe UI"/>
              </a:rPr>
              <a:t>MONEY EVIDENCE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21B2B"/>
                </a:solidFill>
                <a:latin typeface="Segoe UI"/>
              </a:rPr>
              <a:t>Named #1 blocker (42–56% failure). Consultants bill it by hand; vendors assume it away.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417320"/>
            <a:ext cx="2926080" cy="1234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29A8E"/>
                </a:solidFill>
                <a:latin typeface="Segoe UI"/>
              </a:rPr>
              <a:t>FIT FOR 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21B2B"/>
                </a:solidFill>
                <a:latin typeface="Segoe UI"/>
              </a:rPr>
              <a:t>ChemE domain knowledge IS the moat. Easiest to validate without a platform.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43200"/>
            <a:ext cx="11109960" cy="13075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743200"/>
            <a:ext cx="822960" cy="1307592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63240"/>
            <a:ext cx="822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852928"/>
            <a:ext cx="402336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21B2B"/>
                </a:solidFill>
                <a:latin typeface="Segoe UI"/>
              </a:rPr>
              <a:t>Self-learning hybrid digital twin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E"/>
                </a:solidFill>
                <a:latin typeface="Segoe UI"/>
              </a:rPr>
              <a:t>Energy &amp; CO₂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834640"/>
            <a:ext cx="2926080" cy="1234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42A4A"/>
                </a:solidFill>
                <a:latin typeface="Segoe UI"/>
              </a:rPr>
              <a:t>MONEY EVIDENCE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21B2B"/>
                </a:solidFill>
                <a:latin typeface="Segoe UI"/>
              </a:rPr>
              <a:t>Funded science + $12B+ AI-energy market + ADNOC buying. But Aspen/AVEVA/Honeywell already 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834640"/>
            <a:ext cx="2926080" cy="1234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42A4A"/>
                </a:solidFill>
                <a:latin typeface="Segoe UI"/>
              </a:rPr>
              <a:t>FIT FOR 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21B2B"/>
                </a:solidFill>
                <a:latin typeface="Segoe UI"/>
              </a:rPr>
              <a:t>Matches our skills + Hub71 story. Need a narrow entry: one unit op, one KPI.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60520"/>
            <a:ext cx="11109960" cy="13075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60520"/>
            <a:ext cx="822960" cy="1307592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480560"/>
            <a:ext cx="822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270248"/>
            <a:ext cx="402336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21B2B"/>
                </a:solidFill>
                <a:latin typeface="Segoe UI"/>
              </a:rPr>
              <a:t>CCUS / decarbonization economics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E"/>
                </a:solidFill>
                <a:latin typeface="Segoe UI"/>
              </a:rPr>
              <a:t>Utilization-favored; ties to M.Tech gas-hydrate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251960"/>
            <a:ext cx="2926080" cy="1234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88A1A"/>
                </a:solidFill>
                <a:latin typeface="Segoe UI"/>
              </a:rPr>
              <a:t>MONEY EVIDENCE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21B2B"/>
                </a:solidFill>
                <a:latin typeface="Segoe UI"/>
              </a:rPr>
              <a:t>$80B+ CCS by 2030; investors favor revenue-generating utilization.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251960"/>
            <a:ext cx="2926080" cy="1234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88A1A"/>
                </a:solidFill>
                <a:latin typeface="Segoe UI"/>
              </a:rPr>
              <a:t>FIT FOR 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21B2B"/>
                </a:solidFill>
                <a:latin typeface="Segoe UI"/>
              </a:rPr>
              <a:t>Strongest pure-ClimateTech framing. But capital-heavy, long cycles.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FC9BF"/>
                </a:solidFill>
                <a:latin typeface="Segoe UI"/>
              </a:rPr>
              <a:t>WORKING HYPOTHESIS — TO DEBATE, NOT DECIDED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Lead with the data foundation. Sell the optimization vision.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60704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FD8E2"/>
                </a:solidFill>
                <a:latin typeface="Segoe UI"/>
              </a:rPr>
              <a:t>Enter with </a:t>
            </a:r>
            <a:r>
              <a:rPr sz="1700" b="1">
                <a:solidFill>
                  <a:srgbClr val="6FC9BF"/>
                </a:solidFill>
                <a:latin typeface="Segoe UI"/>
              </a:rPr>
              <a:t>Wedge #1 (make plant data AI-ready)</a:t>
            </a:r>
            <a:r>
              <a:rPr sz="1700" b="0">
                <a:solidFill>
                  <a:srgbClr val="CFD8E2"/>
                </a:solidFill>
                <a:latin typeface="Segoe UI"/>
              </a:rPr>
              <a:t> as the product. Frame it as the foundation that makes </a:t>
            </a:r>
            <a:r>
              <a:rPr sz="1700" b="1">
                <a:solidFill>
                  <a:srgbClr val="FFFFFF"/>
                </a:solidFill>
                <a:latin typeface="Segoe UI"/>
              </a:rPr>
              <a:t>energy &amp; CO₂ optimization (Wedge #2)</a:t>
            </a:r>
            <a:r>
              <a:rPr sz="1700" b="0">
                <a:solidFill>
                  <a:srgbClr val="CFD8E2"/>
                </a:solidFill>
                <a:latin typeface="Segoe UI"/>
              </a:rPr>
              <a:t> actually work. This matches BOTH the failure-rate evidence AND our ChemE moat — and keeps the ClimateTech story intact for Hub71.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9A8E"/>
                </a:solidFill>
                <a:latin typeface="Segoe UI"/>
              </a:rPr>
              <a:t>NEXT RESEARCH TASKS (before any pitch)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>
                <a:solidFill>
                  <a:srgbClr val="D7DEE6"/>
                </a:solidFill>
                <a:latin typeface="Segoe UI"/>
              </a:rPr>
              <a:t>□  Competitor map of data-foundation players — Cognite, Palantir Foundry, Seeq, TwinThread (funding, pricing, gaps).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>
                <a:solidFill>
                  <a:srgbClr val="D7DEE6"/>
                </a:solidFill>
                <a:latin typeface="Segoe UI"/>
              </a:rPr>
              <a:t>□  What consultancies charge for historian / data-cleanup projects (proves willingness-to-pay).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>
                <a:solidFill>
                  <a:srgbClr val="D7DEE6"/>
                </a:solidFill>
                <a:latin typeface="Segoe UI"/>
              </a:rPr>
              <a:t>□  Indian refinery / petrochem access for pilot data — IOCL, BPCL, Reliance (our 3-month validation).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>
                <a:solidFill>
                  <a:srgbClr val="D7DEE6"/>
                </a:solidFill>
                <a:latin typeface="Segoe UI"/>
              </a:rPr>
              <a:t>□  Confirm Hub71+ ClimateTech Cohort 20 deadline + whether data-foundation framing qualifies.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C9BF"/>
                </a:solidFill>
                <a:latin typeface="Segoe U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Sources &amp; caveats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6B7E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Follow the Money — Research v1  |  Trio (IIT Madras, ChemE × ML)  |  Hub71 Abu Dhabi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392B"/>
                </a:solidFill>
                <a:latin typeface="Segoe UI"/>
              </a:rPr>
              <a:t>Caveat:  </a:t>
            </a:r>
            <a:r>
              <a:rPr sz="1300" b="0">
                <a:solidFill>
                  <a:srgbClr val="121B2B"/>
                </a:solidFill>
                <a:latin typeface="Segoe UI"/>
              </a:rPr>
              <a:t>market-size figures are analyst estimates and disagree with each other. Lean on demand signals (ADNOC spend, AI-failure stats) — they're harder to dispute.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DOE / NETL — university decarbonization &amp; CCUS funding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Inside Climate News — fossil-fuel funding in academia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AIChE Journal 2026 — AI in chemical engineering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ManagementConsulted — top energy consulting firms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Accenture Newsroom — AI Refinery for Industry, FY25 results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TheStreet — AI reshaping MBB consulting fees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SNS Insider — Advanced Process Control market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MarketsandMarkets — AI in manufacturing $155B by 2030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Astute Analytica — digital twin in oil &amp; gas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S&amp;P Global / RAND / Informatica — AI failure &amp; data quality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ADNOC + EnkiAI — ENERGYai, AIQ, decarbonization spend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B6B7E"/>
                </a:solidFill>
                <a:latin typeface="Segoe UI"/>
              </a:rPr>
              <a:t>•  CarbonCredits / Carbon Herald — CCUS investment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1B2B"/>
                </a:solidFill>
                <a:latin typeface="Segoe UI"/>
              </a:rPr>
              <a:t>Full URLs + commentary in fund_flow_research.md (same folder).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