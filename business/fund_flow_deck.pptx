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32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92F6-4B02-A483-BBFB308506D9}"/>
              </c:ext>
            </c:extLst>
          </c:dPt>
          <c:dPt>
            <c:idx val="1"/>
            <c:bubble3D val="0"/>
            <c:spPr>
              <a:solidFill>
                <a:srgbClr val="C9D3DD"/>
              </a:solidFill>
            </c:spPr>
            <c:extLst>
              <c:ext xmlns:c16="http://schemas.microsoft.com/office/drawing/2014/chart" uri="{C3380CC4-5D6E-409C-BE32-E72D297353CC}">
                <c16:uniqueId val="{00000003-92F6-4B02-A483-BBFB308506D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45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F6-4B02-A483-BBFB308506D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55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2F6-4B02-A483-BBFB308506D9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Oil &amp; gas companies</c:v>
                </c:pt>
                <c:pt idx="1">
                  <c:v>Other sources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F6-4B02-A483-BBFB308506D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US$ millions</c:v>
                </c:pt>
              </c:strCache>
            </c:strRef>
          </c:tx>
          <c:spPr>
            <a:solidFill>
              <a:srgbClr val="142A4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6FC9BF"/>
              </a:solidFill>
            </c:spPr>
            <c:extLst>
              <c:ext xmlns:c16="http://schemas.microsoft.com/office/drawing/2014/chart" uri="{C3380CC4-5D6E-409C-BE32-E72D297353CC}">
                <c16:uniqueId val="{00000001-05D4-4F9D-BAFC-2CC29DB80D7B}"/>
              </c:ext>
            </c:extLst>
          </c:dPt>
          <c:dPt>
            <c:idx val="1"/>
            <c:invertIfNegative val="1"/>
            <c:bubble3D val="0"/>
            <c:spPr>
              <a:solidFill>
                <a:srgbClr val="129A8E"/>
              </a:solidFill>
            </c:spPr>
            <c:extLst>
              <c:ext xmlns:c16="http://schemas.microsoft.com/office/drawing/2014/chart" uri="{C3380CC4-5D6E-409C-BE32-E72D297353CC}">
                <c16:uniqueId val="{00000003-05D4-4F9D-BAFC-2CC29DB80D7B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05D4-4F9D-BAFC-2CC29DB80D7B}"/>
              </c:ext>
            </c:extLst>
          </c:dPt>
          <c:dPt>
            <c:idx val="3"/>
            <c:invertIfNegative val="1"/>
            <c:bubble3D val="0"/>
            <c:spPr>
              <a:solidFill>
                <a:srgbClr val="E88A1A"/>
              </a:solidFill>
            </c:spPr>
            <c:extLst>
              <c:ext xmlns:c16="http://schemas.microsoft.com/office/drawing/2014/chart" uri="{C3380CC4-5D6E-409C-BE32-E72D297353CC}">
                <c16:uniqueId val="{00000007-05D4-4F9D-BAFC-2CC29DB80D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21B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DOE univ.
training</c:v>
                </c:pt>
                <c:pt idx="1">
                  <c:v>DOE univ.
decarb #1</c:v>
                </c:pt>
                <c:pt idx="2">
                  <c:v>DOE carbon
mgmt</c:v>
                </c:pt>
                <c:pt idx="3">
                  <c:v>OCED
CCUS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17</c:v>
                </c:pt>
                <c:pt idx="2">
                  <c:v>54.4</c:v>
                </c:pt>
                <c:pt idx="3">
                  <c:v>1300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05D4-4F9D-BAFC-2CC29DB80D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as share of work / revenue (%)</c:v>
                </c:pt>
              </c:strCache>
            </c:strRef>
          </c:tx>
          <c:spPr>
            <a:solidFill>
              <a:srgbClr val="142A4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129A8E"/>
              </a:solidFill>
            </c:spPr>
            <c:extLst>
              <c:ext xmlns:c16="http://schemas.microsoft.com/office/drawing/2014/chart" uri="{C3380CC4-5D6E-409C-BE32-E72D297353CC}">
                <c16:uniqueId val="{00000001-23E3-4206-B72E-777A664BA94B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23E3-4206-B72E-777A664BA94B}"/>
              </c:ext>
            </c:extLst>
          </c:dPt>
          <c:dPt>
            <c:idx val="2"/>
            <c:invertIfNegative val="1"/>
            <c:bubble3D val="0"/>
            <c:spPr>
              <a:solidFill>
                <a:srgbClr val="8A97A6"/>
              </a:solidFill>
            </c:spPr>
            <c:extLst>
              <c:ext xmlns:c16="http://schemas.microsoft.com/office/drawing/2014/chart" uri="{C3380CC4-5D6E-409C-BE32-E72D297353CC}">
                <c16:uniqueId val="{00000005-23E3-4206-B72E-777A664BA94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BCG</c:v>
                </c:pt>
                <c:pt idx="1">
                  <c:v>McKinsey</c:v>
                </c:pt>
                <c:pt idx="2">
                  <c:v>Accenture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3E3-4206-B72E-777A664BA94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Now ($B)</c:v>
                </c:pt>
              </c:strCache>
            </c:strRef>
          </c:tx>
          <c:spPr>
            <a:solidFill>
              <a:srgbClr val="6FC9BF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21B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Adv. Process
Control sw</c:v>
                </c:pt>
                <c:pt idx="1">
                  <c:v>Process Sim &amp;
Optimization sw</c:v>
                </c:pt>
                <c:pt idx="2">
                  <c:v>AI energy
optimization</c:v>
                </c:pt>
                <c:pt idx="3">
                  <c:v>Digital Twin in
Oil &amp; Gas</c:v>
                </c:pt>
                <c:pt idx="4">
                  <c:v>AI in
Manufacturing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5.2</c:v>
                </c:pt>
                <c:pt idx="2">
                  <c:v>5</c:v>
                </c:pt>
                <c:pt idx="3">
                  <c:v>1.3</c:v>
                </c:pt>
                <c:pt idx="4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D33-49AB-9B68-CC8CD5FEA6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($B)</c:v>
                </c:pt>
              </c:strCache>
            </c:strRef>
          </c:tx>
          <c:spPr>
            <a:solidFill>
              <a:srgbClr val="142A4A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21B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Adv. Process
Control sw</c:v>
                </c:pt>
                <c:pt idx="1">
                  <c:v>Process Sim &amp;
Optimization sw</c:v>
                </c:pt>
                <c:pt idx="2">
                  <c:v>AI energy
optimization</c:v>
                </c:pt>
                <c:pt idx="3">
                  <c:v>Digital Twin in
Oil &amp; Gas</c:v>
                </c:pt>
                <c:pt idx="4">
                  <c:v>AI in
Manufacturing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</c:v>
                </c:pt>
                <c:pt idx="1">
                  <c:v>9.1999999999999993</c:v>
                </c:pt>
                <c:pt idx="2">
                  <c:v>12</c:v>
                </c:pt>
                <c:pt idx="3">
                  <c:v>3.1</c:v>
                </c:pt>
                <c:pt idx="4">
                  <c:v>155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D33-49AB-9B68-CC8CD5FEA6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42A4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A97A6"/>
              </a:solidFill>
            </c:spPr>
            <c:extLst>
              <c:ext xmlns:c16="http://schemas.microsoft.com/office/drawing/2014/chart" uri="{C3380CC4-5D6E-409C-BE32-E72D297353CC}">
                <c16:uniqueId val="{00000001-CA6F-4899-92BA-66345ABF3FA6}"/>
              </c:ext>
            </c:extLst>
          </c:dPt>
          <c:dPt>
            <c:idx val="1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3-CA6F-4899-92BA-66345ABF3FA6}"/>
              </c:ext>
            </c:extLst>
          </c:dPt>
          <c:dPt>
            <c:idx val="2"/>
            <c:invertIfNegative val="1"/>
            <c:bubble3D val="0"/>
            <c:spPr>
              <a:solidFill>
                <a:srgbClr val="E88A1A"/>
              </a:solidFill>
            </c:spPr>
            <c:extLst>
              <c:ext xmlns:c16="http://schemas.microsoft.com/office/drawing/2014/chart" uri="{C3380CC4-5D6E-409C-BE32-E72D297353CC}">
                <c16:uniqueId val="{00000005-CA6F-4899-92BA-66345ABF3FA6}"/>
              </c:ext>
            </c:extLst>
          </c:dPt>
          <c:dPt>
            <c:idx val="3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7-CA6F-4899-92BA-66345ABF3FA6}"/>
              </c:ext>
            </c:extLst>
          </c:dPt>
          <c:dPt>
            <c:idx val="4"/>
            <c:invertIfNegative val="1"/>
            <c:bubble3D val="0"/>
            <c:spPr>
              <a:solidFill>
                <a:srgbClr val="142A4A"/>
              </a:solidFill>
            </c:spPr>
            <c:extLst>
              <c:ext xmlns:c16="http://schemas.microsoft.com/office/drawing/2014/chart" uri="{C3380CC4-5D6E-409C-BE32-E72D297353CC}">
                <c16:uniqueId val="{00000009-CA6F-4899-92BA-66345ABF3FA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21B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Companies that
abandoned most AI
(2024)</c:v>
                </c:pt>
                <c:pt idx="1">
                  <c:v>Companies that
abandoned most AI
(2025)</c:v>
                </c:pt>
                <c:pt idx="2">
                  <c:v>Avg. AI POCs
scrapped pre-
production</c:v>
                </c:pt>
                <c:pt idx="3">
                  <c:v>AI projects that
fail to reach
production (RAND)</c:v>
                </c:pt>
                <c:pt idx="4">
                  <c:v>Manufacturers naming
data as #1 AI
barrier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42</c:v>
                </c:pt>
                <c:pt idx="2">
                  <c:v>46</c:v>
                </c:pt>
                <c:pt idx="3">
                  <c:v>80</c:v>
                </c:pt>
                <c:pt idx="4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CA6F-4899-92BA-66345ABF3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US$ billions</c:v>
                </c:pt>
              </c:strCache>
            </c:strRef>
          </c:tx>
          <c:spPr>
            <a:solidFill>
              <a:srgbClr val="142A4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CAC8-42F4-8495-9362548B0584}"/>
              </c:ext>
            </c:extLst>
          </c:dPt>
          <c:dPt>
            <c:idx val="1"/>
            <c:invertIfNegative val="1"/>
            <c:bubble3D val="0"/>
            <c:spPr>
              <a:solidFill>
                <a:srgbClr val="129A8E"/>
              </a:solidFill>
            </c:spPr>
            <c:extLst>
              <c:ext xmlns:c16="http://schemas.microsoft.com/office/drawing/2014/chart" uri="{C3380CC4-5D6E-409C-BE32-E72D297353CC}">
                <c16:uniqueId val="{00000003-CAC8-42F4-8495-9362548B0584}"/>
              </c:ext>
            </c:extLst>
          </c:dPt>
          <c:dPt>
            <c:idx val="2"/>
            <c:invertIfNegative val="1"/>
            <c:bubble3D val="0"/>
            <c:spPr>
              <a:solidFill>
                <a:srgbClr val="E88A1A"/>
              </a:solidFill>
            </c:spPr>
            <c:extLst>
              <c:ext xmlns:c16="http://schemas.microsoft.com/office/drawing/2014/chart" uri="{C3380CC4-5D6E-409C-BE32-E72D297353CC}">
                <c16:uniqueId val="{00000005-CAC8-42F4-8495-9362548B0584}"/>
              </c:ext>
            </c:extLst>
          </c:dPt>
          <c:dPt>
            <c:idx val="3"/>
            <c:invertIfNegative val="1"/>
            <c:bubble3D val="0"/>
            <c:spPr>
              <a:solidFill>
                <a:srgbClr val="E88A1A"/>
              </a:solidFill>
            </c:spPr>
            <c:extLst>
              <c:ext xmlns:c16="http://schemas.microsoft.com/office/drawing/2014/chart" uri="{C3380CC4-5D6E-409C-BE32-E72D297353CC}">
                <c16:uniqueId val="{00000007-CAC8-42F4-8495-9362548B0584}"/>
              </c:ext>
            </c:extLst>
          </c:dPt>
          <c:dPt>
            <c:idx val="4"/>
            <c:invertIfNegative val="1"/>
            <c:bubble3D val="0"/>
            <c:spPr>
              <a:solidFill>
                <a:srgbClr val="6FC9BF"/>
              </a:solidFill>
            </c:spPr>
            <c:extLst>
              <c:ext xmlns:c16="http://schemas.microsoft.com/office/drawing/2014/chart" uri="{C3380CC4-5D6E-409C-BE32-E72D297353CC}">
                <c16:uniqueId val="{00000009-CAC8-42F4-8495-9362548B0584}"/>
              </c:ext>
            </c:extLst>
          </c:dPt>
          <c:dLbls>
            <c:numFmt formatCode="\$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21B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UAE supplier
tech contracts</c:v>
                </c:pt>
                <c:pt idx="1">
                  <c:v>Decarbonization
commitment</c:v>
                </c:pt>
                <c:pt idx="2">
                  <c:v>Well digital-
ization program</c:v>
                </c:pt>
                <c:pt idx="3">
                  <c:v>AIQ ENERGYai
deployment</c:v>
                </c:pt>
                <c:pt idx="4">
                  <c:v>Value from 30+
AI systems (yr)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14.7</c:v>
                </c:pt>
                <c:pt idx="1">
                  <c:v>23</c:v>
                </c:pt>
                <c:pt idx="2">
                  <c:v>0.92</c:v>
                </c:pt>
                <c:pt idx="3">
                  <c:v>0.34</c:v>
                </c:pt>
                <c:pt idx="4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CAC8-42F4-8495-9362548B05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RESEARCH BRIEFING  ·  v1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dirty="0">
                <a:solidFill>
                  <a:srgbClr val="FFFFFF"/>
                </a:solidFill>
                <a:latin typeface="Segoe UI"/>
              </a:rPr>
              <a:t>Follow the Money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8A97A6"/>
                </a:solidFill>
                <a:latin typeface="Segoe UI"/>
              </a:rPr>
              <a:t>Where funding actually flows in </a:t>
            </a:r>
            <a:r>
              <a:rPr sz="2200" b="1" dirty="0">
                <a:solidFill>
                  <a:srgbClr val="6FC9BF"/>
                </a:solidFill>
                <a:latin typeface="Segoe UI"/>
              </a:rPr>
              <a:t>industrial AI</a:t>
            </a:r>
            <a:r>
              <a:rPr sz="2200" b="0" dirty="0">
                <a:solidFill>
                  <a:srgbClr val="8A97A6"/>
                </a:solidFill>
                <a:latin typeface="Segoe UI"/>
              </a:rPr>
              <a:t>, before we fix our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Two questions we set out to answer: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1   </a:t>
            </a:r>
            <a:r>
              <a:rPr sz="1600" b="0">
                <a:solidFill>
                  <a:srgbClr val="D7DEE6"/>
                </a:solidFill>
                <a:latin typeface="Segoe UI"/>
              </a:rPr>
              <a:t>Where are companies paying universities to do research — on which problems?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2   </a:t>
            </a:r>
            <a:r>
              <a:rPr sz="1600" b="0">
                <a:solidFill>
                  <a:srgbClr val="D7DEE6"/>
                </a:solidFill>
                <a:latin typeface="Segoe UI"/>
              </a:rPr>
              <a:t>Where are big consulting &amp; software firms getting paid — to solve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Team: 3 founders  ·  IIT Madras  ·  Chemical Engineering +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WHY WE DID THIS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Don't pick a problem. Find the budget, then pick.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3500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502920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THE TRAP WE'RE AVOIDING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Our draft idea (ThermoTwin) tried to solve ~10 industrial problems at once.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"We optimize everything" reads to investors as "we've validated nothing."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63500" cy="219456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02920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THE METHOD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Map where real money already flows — corporate-funded research + consulting/software revenue.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Pick a wedge a budget already exists for. Evidence first, idea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Three places the money clearly flows (detail in later slides):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611880" cy="4572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52544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3291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Data-quality layer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Make plant data AI-ready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5112" y="4297680"/>
            <a:ext cx="3611880" cy="4572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4352544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892040"/>
            <a:ext cx="3291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Self-learning digital twin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Energy &amp; CO₂ optimization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01584" y="4297680"/>
            <a:ext cx="3611880" cy="457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4352544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892040"/>
            <a:ext cx="3291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CCUS 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Decarbonization +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TASK 1 · ACADEMIA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Companies already pay universities to solve 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Energy &amp; decarbonization R&amp;D is deeply funded by industry — willingness-to-pay is proven.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9603"/>
              </p:ext>
            </p:extLst>
          </p:nvPr>
        </p:nvGraphicFramePr>
        <p:xfrm>
          <a:off x="54864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60720"/>
            <a:ext cx="47548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1B2B"/>
                </a:solidFill>
                <a:latin typeface="Segoe UI"/>
              </a:rPr>
              <a:t>MIT Energy Initiative: &gt;$1B raised since 2006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~45% came from oil &amp; gas companies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760720" y="182880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5257800"/>
            <a:ext cx="59436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121B2B"/>
                </a:solidFill>
                <a:latin typeface="Segoe UI"/>
              </a:rPr>
              <a:t>Recent US government co-funding (same problems)  ·  log-scale feel: CCUS dwarfs the rest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B6B7E"/>
                </a:solidFill>
                <a:latin typeface="Segoe UI"/>
              </a:rPr>
              <a:t>Takeaway: the academic frontier closest to our skills — hybrid / surrogate "self-learning twin" models — is funded science, not just a pitch.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TASK 2 · CONSULTING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AI + energy is the cash engine of every major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The biggest firms are reorganizing around exactly our space. That means budget — and competition.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Share of client work / revenue that now involves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303520" cy="4023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WHAT THEY'RE SELLING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2316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McKinsey #1 in energy consulting (QuantumBlack AI). ~40% of work has AI.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BCG: AI = ~20% of 2024 revenue; +1,000 AI hires; partnered with Anthropic.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Accenture FY25: $69.7B revenue; AI revenue tripled to $2.7B; GenAI bookings $5.9B.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Accenture launched "AI Refinery for Industry" — incl. industrial asset troubleshooting agents.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Big firms poured &gt;$10B into AI since 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Markets we'd play in — large and growing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6B7E"/>
                </a:solidFill>
                <a:latin typeface="Segoe UI"/>
              </a:rPr>
              <a:t>Directional analyst estimates (they disagree) — trust the direction: big + compounding.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Reality check:  </a:t>
            </a:r>
            <a:r>
              <a:rPr sz="1400" b="0">
                <a:solidFill>
                  <a:srgbClr val="121B2B"/>
                </a:solidFill>
                <a:latin typeface="Segoe UI"/>
              </a:rPr>
              <a:t>these arenas are NOT empty — AspenTech (Emerson), AVEVA, Honeywell own process optimization; Accenture is wrapping it in AI agents. Our wedge must be what they do badly.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#1 DEMAND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Industrial AI fails because of dirty data — not weak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7498079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321040" y="1371600"/>
            <a:ext cx="3383280" cy="429768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63500" cy="42976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600200"/>
            <a:ext cx="3017520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WHY THIS IS GOLD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The market is screaming that the bottleneck is data — not optimization math.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Aspen / AVEVA assume clean data. Consultants fix it by hand, billing huge hours.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Cleaning industrial data needs process knowledge — our ChemE edge is the moat.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LOCAL MONEY · HUB71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Abu Dhabi is already buying this —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1371600"/>
            <a:ext cx="4114800" cy="4297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749039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ADNOC IS SPENDING NOW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ENERGYai built with AIQ + Microsoft + G42; 70% gain in seismic accuracy.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CCUS target: 10 mtpa CO₂ by 2030 · Net Zero 2045 · $15B low-carbon allocation.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Our play:  </a:t>
            </a:r>
            <a:r>
              <a:rPr sz="1400" b="0">
                <a:solidFill>
                  <a:srgbClr val="121B2B"/>
                </a:solidFill>
                <a:latin typeface="Segoe UI"/>
              </a:rPr>
              <a:t>not displace AIQ/Accenture's platform — plug in as a specialized layer they underserve. That's exactly Hub71's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Where the money points: 3 wedges, ranked for 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822960" cy="1307592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8229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35608"/>
            <a:ext cx="402336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Industrial data-quality / contextualization layer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Make plant data AI-ready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41732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9A8E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Named #1 blocker (42–56% failure). Consultants bill it by hand; vendors assume it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1732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9A8E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ChemE domain knowledge IS the moat. Easiest to validate without a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822960" cy="130759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8229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52928"/>
            <a:ext cx="402336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Self-learning hybrid digital twin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Energy &amp; CO₂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83464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42A4A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Funded science + $12B+ AI-energy market + ADNOC buying. But Aspen/AVEVA/Honeywell already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4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42A4A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Matches our skills + Hub71 story. Need a narrow entry: one unit op, one KPI.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822960" cy="130759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8229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70248"/>
            <a:ext cx="402336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CCUS / decarbonization 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Utilization-favored; ties to M.Tech gas-hydrate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5196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88A1A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$80B+ CCS by 2030; investors favor revenue-generating utilization.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51960"/>
            <a:ext cx="292608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88A1A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Strongest pure-ClimateTech framing. But capital-heavy, long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WORKING HYPOTHESIS — TO DEBATE, NOT DECIDED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Lead with the data foundation. Sell the optimization 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0704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FD8E2"/>
                </a:solidFill>
                <a:latin typeface="Segoe UI"/>
              </a:rPr>
              <a:t>Enter with </a:t>
            </a:r>
            <a:r>
              <a:rPr sz="1700" b="1">
                <a:solidFill>
                  <a:srgbClr val="6FC9BF"/>
                </a:solidFill>
                <a:latin typeface="Segoe UI"/>
              </a:rPr>
              <a:t>Wedge #1 (make plant data AI-ready)</a:t>
            </a:r>
            <a:r>
              <a:rPr sz="1700" b="0">
                <a:solidFill>
                  <a:srgbClr val="CFD8E2"/>
                </a:solidFill>
                <a:latin typeface="Segoe UI"/>
              </a:rPr>
              <a:t> as the product. Frame it as the foundation that makes </a:t>
            </a:r>
            <a:r>
              <a:rPr sz="1700" b="1">
                <a:solidFill>
                  <a:srgbClr val="FFFFFF"/>
                </a:solidFill>
                <a:latin typeface="Segoe UI"/>
              </a:rPr>
              <a:t>energy &amp; CO₂ optimization (Wedge #2)</a:t>
            </a:r>
            <a:r>
              <a:rPr sz="1700" b="0">
                <a:solidFill>
                  <a:srgbClr val="CFD8E2"/>
                </a:solidFill>
                <a:latin typeface="Segoe UI"/>
              </a:rPr>
              <a:t> actually work. This matches BOTH the failure-rate evidence AND our ChemE moat — and keeps the ClimateTech story intact for Hub71.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NEXT RESEARCH TASKS (before any pitch)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D7DEE6"/>
                </a:solidFill>
                <a:latin typeface="Segoe UI"/>
              </a:rPr>
              <a:t>□  Competitor map of data-foundation players — </a:t>
            </a:r>
            <a:r>
              <a:rPr sz="1400" b="0" dirty="0" err="1">
                <a:solidFill>
                  <a:srgbClr val="D7DEE6"/>
                </a:solidFill>
                <a:latin typeface="Segoe UI"/>
              </a:rPr>
              <a:t>Cognite</a:t>
            </a:r>
            <a:r>
              <a:rPr sz="1400" b="0" dirty="0">
                <a:solidFill>
                  <a:srgbClr val="D7DEE6"/>
                </a:solidFill>
                <a:latin typeface="Segoe UI"/>
              </a:rPr>
              <a:t>, Palantir Foundry, </a:t>
            </a:r>
            <a:r>
              <a:rPr sz="1400" b="0" dirty="0" err="1">
                <a:solidFill>
                  <a:srgbClr val="D7DEE6"/>
                </a:solidFill>
                <a:latin typeface="Segoe UI"/>
              </a:rPr>
              <a:t>Seeq</a:t>
            </a:r>
            <a:r>
              <a:rPr sz="1400" b="0" dirty="0">
                <a:solidFill>
                  <a:srgbClr val="D7DEE6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D7DEE6"/>
                </a:solidFill>
                <a:latin typeface="Segoe UI"/>
              </a:rPr>
              <a:t>TwinThread</a:t>
            </a:r>
            <a:r>
              <a:rPr sz="1400" b="0" dirty="0">
                <a:solidFill>
                  <a:srgbClr val="D7DEE6"/>
                </a:solidFill>
                <a:latin typeface="Segoe UI"/>
              </a:rPr>
              <a:t> (funding, pricing, gaps).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D7DEE6"/>
                </a:solidFill>
                <a:latin typeface="Segoe UI"/>
              </a:rPr>
              <a:t>□  What consultancies charge for historian / data-cleanup projects (proves willingness-to-pay).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D7DEE6"/>
                </a:solidFill>
                <a:latin typeface="Segoe UI"/>
              </a:rPr>
              <a:t>□  Indian refinery / </a:t>
            </a:r>
            <a:r>
              <a:rPr sz="1400" b="0" dirty="0" err="1">
                <a:solidFill>
                  <a:srgbClr val="D7DEE6"/>
                </a:solidFill>
                <a:latin typeface="Segoe UI"/>
              </a:rPr>
              <a:t>petrochem</a:t>
            </a:r>
            <a:r>
              <a:rPr sz="1400" b="0" dirty="0">
                <a:solidFill>
                  <a:srgbClr val="D7DEE6"/>
                </a:solidFill>
                <a:latin typeface="Segoe UI"/>
              </a:rPr>
              <a:t> access for pilot data — IOCL, BPCL, Reliance (our 3-month validation).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dirty="0">
                <a:solidFill>
                  <a:srgbClr val="D7DEE6"/>
                </a:solidFill>
                <a:latin typeface="Segoe UI"/>
              </a:rPr>
              <a:t>□  Confirm Hub71+ </a:t>
            </a:r>
            <a:r>
              <a:rPr sz="1400" b="0" dirty="0" err="1">
                <a:solidFill>
                  <a:srgbClr val="D7DEE6"/>
                </a:solidFill>
                <a:latin typeface="Segoe UI"/>
              </a:rPr>
              <a:t>ClimateTech</a:t>
            </a:r>
            <a:r>
              <a:rPr sz="1400" b="0" dirty="0">
                <a:solidFill>
                  <a:srgbClr val="D7DEE6"/>
                </a:solidFill>
                <a:latin typeface="Segoe UI"/>
              </a:rPr>
              <a:t> Cohort 20 deadline + whether data-foundation framing qualifies.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Sources &amp;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Caveat:  </a:t>
            </a:r>
            <a:r>
              <a:rPr sz="1300" b="0">
                <a:solidFill>
                  <a:srgbClr val="121B2B"/>
                </a:solidFill>
                <a:latin typeface="Segoe UI"/>
              </a:rPr>
              <a:t>market-size figures are analyst estimates and disagree with each other. Lean on demand signals (ADNOC spend, AI-failure stats) — they're harder to dispute.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DOE / NETL — university decarbonization &amp; CCUS funding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Inside Climate News — fossil-fuel funding in academia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AIChE Journal 2026 — AI in chemical engineering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ManagementConsulted — top energy consulting firms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Accenture Newsroom — AI Refinery for Industry, FY25 results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TheStreet — AI reshaping MBB consulting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SNS Insider — Advanced Process Control market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MarketsandMarkets — AI in manufacturing $155B by 2030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Astute Analytica — digital twin in oil &amp; gas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S&amp;P Global / RAND / Informatica — AI failure &amp; data quality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ADNOC + EnkiAI — ENERGYai, AIQ, decarbonization spend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CarbonCredits / Carbon Herald — CCUS investment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Full URLs + commentary in fund_flow_research.md (same folder).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2715</TotalTime>
  <Words>1291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Chankapure</cp:lastModifiedBy>
  <cp:revision>2</cp:revision>
  <dcterms:created xsi:type="dcterms:W3CDTF">2013-01-27T09:14:16Z</dcterms:created>
  <dcterms:modified xsi:type="dcterms:W3CDTF">2026-06-30T03:56:02Z</dcterms:modified>
  <cp:category/>
</cp:coreProperties>
</file>