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C9D3DD"/>
              </a:solidFill>
            </c:spPr>
          </c:dPt>
          <c:cat>
            <c:strRef>
              <c:f>Sheet1!$A$2:$A$3</c:f>
              <c:strCache>
                <c:ptCount val="2"/>
                <c:pt idx="0">
                  <c:v>Fired heaters / furnaces</c:v>
                </c:pt>
                <c:pt idx="1">
                  <c:v>Rest of refinery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US$ billions</c:v>
                </c:pt>
              </c:strCache>
            </c:strRef>
          </c:tx>
          <c:dPt>
            <c:idx val="0"/>
            <c:spPr>
              <a:solidFill>
                <a:srgbClr val="129A8E"/>
              </a:solidFill>
            </c:spPr>
          </c:dPt>
          <c:dPt>
            <c:idx val="1"/>
            <c:spPr>
              <a:solidFill>
                <a:srgbClr val="142A4A"/>
              </a:solidFill>
            </c:spPr>
          </c:dPt>
          <c:dPt>
            <c:idx val="2"/>
            <c:spPr>
              <a:solidFill>
                <a:srgbClr val="E88A1A"/>
              </a:solidFill>
            </c:spPr>
          </c:dPt>
          <c:dPt>
            <c:idx val="3"/>
            <c:spPr>
              <a:solidFill>
                <a:srgbClr val="6FC9BF"/>
              </a:solidFill>
            </c:spPr>
          </c:dPt>
          <c:cat>
            <c:strRef>
              <c:f>Sheet1!$A$2:$A$5</c:f>
              <c:strCache>
                <c:ptCount val="4"/>
                <c:pt idx="0">
                  <c:v>Decarbonization
commitment</c:v>
                </c:pt>
                <c:pt idx="1">
                  <c:v>UAE supplier
tech contracts</c:v>
                </c:pt>
                <c:pt idx="2">
                  <c:v>Well digital-
ization deal</c:v>
                </c:pt>
                <c:pt idx="3">
                  <c:v>Value from 30+
AI systems / yr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</c:v>
                </c:pt>
                <c:pt idx="1">
                  <c:v>14.7</c:v>
                </c:pt>
                <c:pt idx="2">
                  <c:v>0.92</c:v>
                </c:pt>
                <c:pt idx="3">
                  <c:v>0.5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sz="1100" b="1">
                  <a:solidFill>
                    <a:srgbClr val="121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Furnace optimizer (our bet)</c:v>
                </c:pt>
              </c:strCache>
            </c:strRef>
          </c:tx>
          <c:spPr>
            <a:solidFill>
              <a:srgbClr val="129A8E"/>
            </a:solidFill>
          </c:spPr>
          <c:cat>
            <c:strRef>
              <c:f>Sheet1!$A$2:$A$6</c:f>
              <c:strCache>
                <c:ptCount val="5"/>
                <c:pt idx="0">
                  <c:v>Abu Dhabi /
Net-Zero fit</c:v>
                </c:pt>
                <c:pt idx="1">
                  <c:v>AI-first
(Hub71+ AI)</c:v>
                </c:pt>
                <c:pt idx="2">
                  <c:v>Believable for
pre-MVP team</c:v>
                </c:pt>
                <c:pt idx="3">
                  <c:v>Our ChemE×ML
moat</c:v>
                </c:pt>
                <c:pt idx="4">
                  <c:v>Clear paying
customer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Broad data platform</c:v>
                </c:pt>
              </c:strCache>
            </c:strRef>
          </c:tx>
          <c:spPr>
            <a:solidFill>
              <a:srgbClr val="142A4A"/>
            </a:solidFill>
          </c:spPr>
          <c:cat>
            <c:strRef>
              <c:f>Sheet1!$A$2:$A$6</c:f>
              <c:strCache>
                <c:ptCount val="5"/>
                <c:pt idx="0">
                  <c:v>Abu Dhabi /
Net-Zero fit</c:v>
                </c:pt>
                <c:pt idx="1">
                  <c:v>AI-first
(Hub71+ AI)</c:v>
                </c:pt>
                <c:pt idx="2">
                  <c:v>Believable for
pre-MVP team</c:v>
                </c:pt>
                <c:pt idx="3">
                  <c:v>Our ChemE×ML
moat</c:v>
                </c:pt>
                <c:pt idx="4">
                  <c:v>Clear paying
customer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CCUS economics</c:v>
                </c:pt>
              </c:strCache>
            </c:strRef>
          </c:tx>
          <c:spPr>
            <a:solidFill>
              <a:srgbClr val="8A97A6"/>
            </a:solidFill>
          </c:spPr>
          <c:cat>
            <c:strRef>
              <c:f>Sheet1!$A$2:$A$6</c:f>
              <c:strCache>
                <c:ptCount val="5"/>
                <c:pt idx="0">
                  <c:v>Abu Dhabi /
Net-Zero fit</c:v>
                </c:pt>
                <c:pt idx="1">
                  <c:v>AI-first
(Hub71+ AI)</c:v>
                </c:pt>
                <c:pt idx="2">
                  <c:v>Believable for
pre-MVP team</c:v>
                </c:pt>
                <c:pt idx="3">
                  <c:v>Our ChemE×ML
moat</c:v>
                </c:pt>
                <c:pt idx="4">
                  <c:v>Clear paying
customer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THE ONE BET  ·  HUB71 ABU DHABI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9728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One problem. One solution.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One customer.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7A6"/>
                </a:solidFill>
                <a:latin typeface="Segoe UI"/>
              </a:rPr>
              <a:t>The sharpest, lowest-resistance path to getting incubated.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7899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PROBLEM   </a:t>
            </a:r>
            <a:r>
              <a:rPr sz="1600" b="0">
                <a:solidFill>
                  <a:srgbClr val="CFD8E2"/>
                </a:solidFill>
                <a:latin typeface="Segoe UI"/>
              </a:rPr>
              <a:t>Furnaces waste 40–60% of refinery energy and drift out of efficiency.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SOLUTION   </a:t>
            </a:r>
            <a:r>
              <a:rPr sz="1600" b="0">
                <a:solidFill>
                  <a:srgbClr val="CFD8E2"/>
                </a:solidFill>
                <a:latin typeface="Segoe UI"/>
              </a:rPr>
              <a:t>An AI optimizer that cuts furnace fuel + CO₂ in real time — its edge is physics-based data cleaning that makes the AI trustworthy.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CUSTOMER   </a:t>
            </a:r>
            <a:r>
              <a:rPr sz="1600" b="0">
                <a:solidFill>
                  <a:srgbClr val="CFD8E2"/>
                </a:solidFill>
                <a:latin typeface="Segoe UI"/>
              </a:rPr>
              <a:t>ADNOC (Gas / Refining) — reached through Hub71's corporate-partner channel.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We bet everything on one narrow, winnable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B7E"/>
                </a:solidFill>
                <a:latin typeface="Segoe UI"/>
              </a:rPr>
              <a:t>Product: ThermoTwin — Fired-Heater Energy &amp; Emissions Optimizer (start narrow, expand later).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57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6400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Fired heaters / furnaces are the #1 energy user &amp; CO₂ source in refining (40–60%). They silently lose efficiency — fouling, excess O₂, burner imbalance — and operators can't correct in real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874519"/>
            <a:ext cx="3657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3657600" cy="640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An AI optimizer that predicts furnace efficiency and recommends the setpoints to cut fuel &amp; CO₂ per ton. Its moat: physics-based data cleaning that makes the AI trustworthy where rivals' AI fails. Advisory, one unit, one KPI.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874519"/>
            <a:ext cx="3657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874519"/>
            <a:ext cx="3657600" cy="6400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11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432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ADNOC Gas / ADNOC Refining. A single-furnace pilot, brokered by Hub71 — whose entire value proposition is access to ADNOC.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ONE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Why furnaces — the biggest, clearest prize in the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554480"/>
          <a:ext cx="4480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32120"/>
            <a:ext cx="4480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1B2B"/>
                </a:solidFill>
                <a:latin typeface="Segoe UI"/>
              </a:rPr>
              <a:t>Furnaces burn 40–60% of all refinery energy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E"/>
                </a:solidFill>
                <a:latin typeface="Segoe UI"/>
              </a:rPr>
              <a:t>(midpoint shown). The single largest lever.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554480"/>
            <a:ext cx="6309360" cy="40233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737360"/>
            <a:ext cx="5852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WHY IT STAYS BROKEN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4028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Efficiency drifts daily: tube fouling, wrong excess-O₂, unbalanced burners — invisible without analysis.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Operators get no real-time, trustworthy guidance — a manual energy audit takes weeks.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▸  AI can't help today because the data is dirty: bad sensors, wrong tags, missing lab values.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Result: avoidable fuel cost + avoidable CO₂, every hour, on every heater.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▸  Every 2–3% of furnace fuel saved = large $ and tonnes of CO₂ — directly on ADNOC's Net-Zero scorecard.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ONE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Clean the data with chemistry, then advise — don't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204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20440" cy="5669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 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Existing historian / sensor / lab data, read-only. No new hardware, no control access.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96512" y="2331720"/>
            <a:ext cx="310896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5204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554480"/>
            <a:ext cx="3520440" cy="566928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  CLEAN — our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Physics + ML detect bad sensors, wrong tags, impossible values — the step that makes everyone else's AI fail.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82712" y="2331720"/>
            <a:ext cx="310896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5204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520440" cy="5669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459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  AI 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8600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ML soft-sensors + hybrid twin predict efficiency; optimizer recommends fuel/CO₂-saving setpoints.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09960" cy="1874519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63500" cy="1874519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FC9BF"/>
                </a:solidFill>
                <a:latin typeface="Segoe UI"/>
              </a:rPr>
              <a:t>WHY THIS SCOPE IS DELIBERATELY NARROW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FD8E2"/>
                </a:solidFill>
                <a:latin typeface="Segoe UI"/>
              </a:rPr>
              <a:t>✓  ONE unit (fired heaters) + ONE KPI (fuel &amp; CO₂ / ton) = a pre-MVP team can actually build &amp; prove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FD8E2"/>
                </a:solidFill>
                <a:latin typeface="Segoe UI"/>
              </a:rPr>
              <a:t>✓  Advisory-only = no safety/control risk → far easier to get a pilot approved inside a refinery.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✓  The data-cleaning engine is the real moat and is reusable later for every other unit (expansion path).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“BUT WHERE IS THE AI?”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Four AI layers. Data cleaning is the moat, not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B7E"/>
                </a:solidFill>
                <a:latin typeface="Segoe UI"/>
              </a:rPr>
              <a:t>The product we sell is the recommendation. The AI is real, layered, and exactly our ChemE×ML shape: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5321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76200" cy="17830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938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ML  ·  SOFT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50292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Predict what the plant can't measure — real-time furnace efficiency, stack O₂/CO, tube-metal temp — from the sensors it has.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5321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76200" cy="1783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2938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A4A"/>
                </a:solidFill>
                <a:latin typeface="Segoe UI"/>
              </a:rPr>
              <a:t>PHYSICS + ML  ·  HYBRID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50008"/>
            <a:ext cx="50292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Predict furnace performance under different setpoints. Combustion &amp; heat-transfer physics fused with ML on real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55321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76200" cy="17830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9534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8A1A"/>
                </a:solidFill>
                <a:latin typeface="Segoe UI"/>
              </a:rPr>
              <a:t>AI  ·  PRESCRIPTIVE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50292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The brain. Searches the setpoint space to minimise fuel + CO₂ within safety limits → the actual recommendation.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49040"/>
            <a:ext cx="55321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5B6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40"/>
            <a:ext cx="76200" cy="1783080"/>
          </a:xfrm>
          <a:prstGeom prst="rect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9534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B7E"/>
                </a:solidFill>
                <a:latin typeface="Segoe UI"/>
              </a:rPr>
              <a:t>ML  ·  DRIFT / ANOMALY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15968"/>
            <a:ext cx="50292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Catch fouling, burner imbalance and failing sensors early — before efficiency quietly bleeds away.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06440"/>
            <a:ext cx="11109960" cy="566928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70448"/>
            <a:ext cx="10789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Cleaning is the enabler. The optimizer is the AI. </a:t>
            </a:r>
            <a:r>
              <a:rPr sz="1400" b="0">
                <a:solidFill>
                  <a:srgbClr val="FFFFFF"/>
                </a:solidFill>
                <a:latin typeface="Segoe UI"/>
              </a:rPr>
              <a:t>We're an AI company whose edge is surviving dirty industrial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ONE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ADNOC — and Hub71 is literally the bridge to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463040"/>
          <a:ext cx="6126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6126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ADNOC is already spending — and shifting from AI pilots to enterprise-wide rollout (2025).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463040"/>
            <a:ext cx="4800600" cy="41148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27632"/>
            <a:ext cx="4389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WHY ADNOC, 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0312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Net Zero 2045 + CCUS 10 mtpa by 2030 → furnace fuel/CO₂ savings hit a board-level KPI.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Hub71's #1 asset is access to ADNOC &amp; 150+ corporate partners. Naming ADNOC = perfect alignment.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We don't displace AIQ/Accenture's big platform — we plug in as a specialist furnace layer.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▸  Pilot beachhead: ONE fired heater → prove savings → expand across the fleet.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WHY THIS GETS US INCUBATED EASILY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Scored against Hub71's actual selection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B7E"/>
                </a:solidFill>
                <a:latin typeface="Segoe UI"/>
              </a:rPr>
              <a:t>Our honest 1–5 assessment of three candidate ideas. The furnace bet wins on every axis that matters to Hub71.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691640"/>
          <a:ext cx="11109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HARD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Answering the objections before they're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3500" cy="118872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35608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9A8E"/>
                </a:solidFill>
                <a:latin typeface="Segoe UI"/>
              </a:rPr>
              <a:t>“Will a refinery even let you integrate?”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We never touch the live control system. We use a one-way, read-only historian export — a normal, low-risk ask. And we prove the AI on public/synthetic data first, so we don't need their data to have a working demo.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63500" cy="118872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34056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A4A"/>
                </a:solidFill>
                <a:latin typeface="Segoe UI"/>
              </a:rPr>
              <a:t>“AspenTech / AVEVA / Honeywell already do this.”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They assume clean data and sell heavy platforms. We win where they're weak — surviving dirty data on one high-ROI unit, light and advisory. We integrate with them, not fight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63500" cy="118872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32504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8A1A"/>
                </a:solidFill>
                <a:latin typeface="Segoe UI"/>
              </a:rPr>
              <a:t>“Can 3 people really build this?”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One unit, one KPI, advisory-only, on existing data — a focused ML + ChemE problem, exactly our team's shape. No control system to build.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21224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21224"/>
            <a:ext cx="63500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30952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“Is this really ClimateTech, or just efficiency?”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51576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Furnace fuel = direct Scope-1 CO₂. Every % saved is measurable avoided emissions — qualifies for Hub71+ ClimateTech AND Hub71+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we do in the 90 days around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66160" cy="8686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DAYS 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Build on open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0604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Get a working AI demo on PUBLIC + synthetic furnace data — no plant access needed. Validate the problem with 3–5 process engineers.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697480"/>
            <a:ext cx="274320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554480"/>
            <a:ext cx="35661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554480"/>
            <a:ext cx="3566160" cy="8686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6459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DAYS 30–60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938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Prove the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0604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Show: dirty furnace data → cleaned → soft-sensor + optimizer → fuel/CO₂-saving recommendation, with quantified illustrative savings.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73568" y="2697480"/>
            <a:ext cx="274320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6" y="1554480"/>
            <a:ext cx="35661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6" y="1554480"/>
            <a:ext cx="3566160" cy="8686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6459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DAYS 60–90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1938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Apply &amp; 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60604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Submit Hub71 Initiate with a live demo in hand. Use IIT-Madras + India–UAE corridor to line up an ADNOC / refinery design-partner talk.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1109960" cy="12801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63500" cy="128016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106070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FC9BF"/>
                </a:solidFill>
                <a:latin typeface="Segoe UI"/>
              </a:rPr>
              <a:t>The bet in one line:  </a:t>
            </a:r>
            <a:r>
              <a:rPr sz="1700" b="0">
                <a:solidFill>
                  <a:srgbClr val="FFFFFF"/>
                </a:solidFill>
                <a:latin typeface="Segoe UI"/>
              </a:rPr>
              <a:t>Win the furnace, win ADNOC's trust, then expand the data-cleaning engine to every other unit. Narrow door, big room behind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