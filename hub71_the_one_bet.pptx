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C0392B"/>
              </a:solidFill>
            </c:spPr>
          </c:dPt>
          <c:dPt>
            <c:idx val="1"/>
            <c:spPr>
              <a:solidFill>
                <a:srgbClr val="C9D3DD"/>
              </a:solidFill>
            </c:spPr>
          </c:dPt>
          <c:cat>
            <c:strRef>
              <c:f>Sheet1!$A$2:$A$3</c:f>
              <c:strCache>
                <c:ptCount val="2"/>
                <c:pt idx="0">
                  <c:v>Fired heaters / furnaces</c:v>
                </c:pt>
                <c:pt idx="1">
                  <c:v>Rest of refinery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3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US$ billions</c:v>
                </c:pt>
              </c:strCache>
            </c:strRef>
          </c:tx>
          <c:dPt>
            <c:idx val="0"/>
            <c:spPr>
              <a:solidFill>
                <a:srgbClr val="129A8E"/>
              </a:solidFill>
            </c:spPr>
          </c:dPt>
          <c:dPt>
            <c:idx val="1"/>
            <c:spPr>
              <a:solidFill>
                <a:srgbClr val="142A4A"/>
              </a:solidFill>
            </c:spPr>
          </c:dPt>
          <c:dPt>
            <c:idx val="2"/>
            <c:spPr>
              <a:solidFill>
                <a:srgbClr val="E88A1A"/>
              </a:solidFill>
            </c:spPr>
          </c:dPt>
          <c:dPt>
            <c:idx val="3"/>
            <c:spPr>
              <a:solidFill>
                <a:srgbClr val="6FC9BF"/>
              </a:solidFill>
            </c:spPr>
          </c:dPt>
          <c:cat>
            <c:strRef>
              <c:f>Sheet1!$A$2:$A$5</c:f>
              <c:strCache>
                <c:ptCount val="4"/>
                <c:pt idx="0">
                  <c:v>Decarbonization
commitment</c:v>
                </c:pt>
                <c:pt idx="1">
                  <c:v>UAE supplier
tech contracts</c:v>
                </c:pt>
                <c:pt idx="2">
                  <c:v>Well digital-
ization deal</c:v>
                </c:pt>
                <c:pt idx="3">
                  <c:v>Value from 30+
AI systems / yr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23.0</c:v>
                </c:pt>
                <c:pt idx="1">
                  <c:v>14.7</c:v>
                </c:pt>
                <c:pt idx="2">
                  <c:v>0.92</c:v>
                </c:pt>
                <c:pt idx="3">
                  <c:v>0.5</c:v>
                </c:pt>
              </c:numCache>
            </c:numRef>
          </c:val>
        </c:ser>
        <c:dLbls>
          <c:numFmt formatCode="$0.0" sourceLinked="0"/>
          <c:txPr>
            <a:bodyPr/>
            <a:lstStyle/>
            <a:p>
              <a:pPr>
                <a:defRPr sz="1100" b="1">
                  <a:solidFill>
                    <a:srgbClr val="121B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Furnace optimizer (our bet)</c:v>
                </c:pt>
              </c:strCache>
            </c:strRef>
          </c:tx>
          <c:spPr>
            <a:solidFill>
              <a:srgbClr val="129A8E"/>
            </a:solidFill>
          </c:spPr>
          <c:cat>
            <c:strRef>
              <c:f>Sheet1!$A$2:$A$6</c:f>
              <c:strCache>
                <c:ptCount val="5"/>
                <c:pt idx="0">
                  <c:v>Abu Dhabi /
Net-Zero fit</c:v>
                </c:pt>
                <c:pt idx="1">
                  <c:v>AI-first
(Hub71+ AI)</c:v>
                </c:pt>
                <c:pt idx="2">
                  <c:v>Believable for
pre-MVP team</c:v>
                </c:pt>
                <c:pt idx="3">
                  <c:v>Our ChemE×ML
moat</c:v>
                </c:pt>
                <c:pt idx="4">
                  <c:v>Clear paying
customer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Broad data platform</c:v>
                </c:pt>
              </c:strCache>
            </c:strRef>
          </c:tx>
          <c:spPr>
            <a:solidFill>
              <a:srgbClr val="142A4A"/>
            </a:solidFill>
          </c:spPr>
          <c:cat>
            <c:strRef>
              <c:f>Sheet1!$A$2:$A$6</c:f>
              <c:strCache>
                <c:ptCount val="5"/>
                <c:pt idx="0">
                  <c:v>Abu Dhabi /
Net-Zero fit</c:v>
                </c:pt>
                <c:pt idx="1">
                  <c:v>AI-first
(Hub71+ AI)</c:v>
                </c:pt>
                <c:pt idx="2">
                  <c:v>Believable for
pre-MVP team</c:v>
                </c:pt>
                <c:pt idx="3">
                  <c:v>Our ChemE×ML
moat</c:v>
                </c:pt>
                <c:pt idx="4">
                  <c:v>Clear paying
customer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4</c:v>
                </c:pt>
                <c:pt idx="2">
                  <c:v>3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CCUS economics</c:v>
                </c:pt>
              </c:strCache>
            </c:strRef>
          </c:tx>
          <c:spPr>
            <a:solidFill>
              <a:srgbClr val="8A97A6"/>
            </a:solidFill>
          </c:spPr>
          <c:cat>
            <c:strRef>
              <c:f>Sheet1!$A$2:$A$6</c:f>
              <c:strCache>
                <c:ptCount val="5"/>
                <c:pt idx="0">
                  <c:v>Abu Dhabi /
Net-Zero fit</c:v>
                </c:pt>
                <c:pt idx="1">
                  <c:v>AI-first
(Hub71+ AI)</c:v>
                </c:pt>
                <c:pt idx="2">
                  <c:v>Believable for
pre-MVP team</c:v>
                </c:pt>
                <c:pt idx="3">
                  <c:v>Our ChemE×ML
moat</c:v>
                </c:pt>
                <c:pt idx="4">
                  <c:v>Clear paying
customer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</c:v>
                </c:pt>
                <c:pt idx="1">
                  <c:v>3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381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FC9BF"/>
                </a:solidFill>
                <a:latin typeface="Segoe UI"/>
              </a:rPr>
              <a:t>THE ONE BET  ·  HUB71 ABU DHABI  ·  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97280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600" b="1">
                <a:solidFill>
                  <a:srgbClr val="FFFFFF"/>
                </a:solidFill>
                <a:latin typeface="Segoe UI"/>
              </a:rPr>
              <a:t>One problem. One solution.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4600" b="1">
                <a:solidFill>
                  <a:srgbClr val="FFFFFF"/>
                </a:solidFill>
                <a:latin typeface="Segoe UI"/>
              </a:rPr>
              <a:t>One customer.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97A6"/>
                </a:solidFill>
                <a:latin typeface="Segoe UI"/>
              </a:rPr>
              <a:t>The sharpest, lowest-resistance path to getting incubated.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78992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129A8E"/>
                </a:solidFill>
                <a:latin typeface="Segoe UI"/>
              </a:rPr>
              <a:t>PROBLEM   </a:t>
            </a:r>
            <a:r>
              <a:rPr sz="1600" b="0">
                <a:solidFill>
                  <a:srgbClr val="CFD8E2"/>
                </a:solidFill>
                <a:latin typeface="Segoe UI"/>
              </a:rPr>
              <a:t>Furnaces waste 40–60% of refinery energy and drift out of efficiency.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129A8E"/>
                </a:solidFill>
                <a:latin typeface="Segoe UI"/>
              </a:rPr>
              <a:t>SOLUTION   </a:t>
            </a:r>
            <a:r>
              <a:rPr sz="1600" b="0">
                <a:solidFill>
                  <a:srgbClr val="CFD8E2"/>
                </a:solidFill>
                <a:latin typeface="Segoe UI"/>
              </a:rPr>
              <a:t>Physics-informed AI that cleans plant data and cuts furnace fuel + CO₂ — advisory, no rewiring.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9A8E"/>
                </a:solidFill>
                <a:latin typeface="Segoe UI"/>
              </a:rPr>
              <a:t>CUSTOMER   </a:t>
            </a:r>
            <a:r>
              <a:rPr sz="1600" b="0">
                <a:solidFill>
                  <a:srgbClr val="CFD8E2"/>
                </a:solidFill>
                <a:latin typeface="Segoe UI"/>
              </a:rPr>
              <a:t>ADNOC (Gas / Refining) — reached through Hub71's corporate-partner channel.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FC9BF"/>
                </a:solidFill>
                <a:latin typeface="Segoe UI"/>
              </a:rPr>
              <a:t>THE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60704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We bet everything on one narrow, winnable wedge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B6B7E"/>
                </a:solidFill>
                <a:latin typeface="Segoe U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7A6"/>
                </a:solidFill>
                <a:latin typeface="Segoe UI"/>
              </a:rPr>
              <a:t>The One Bet  |  Trio (IIT Madras, ChemE × ML)  |  Hub71 Abu Dhabi  |  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07008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B6B7E"/>
                </a:solidFill>
                <a:latin typeface="Segoe UI"/>
              </a:rPr>
              <a:t>Product: ThermoTwin — Fired-Heater Energy &amp; Emissions Optimizer (start narrow, expand later).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365760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29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3657600" cy="64008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01168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THE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743200"/>
            <a:ext cx="3291840" cy="2926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21B2B"/>
                </a:solidFill>
                <a:latin typeface="Segoe UI"/>
              </a:rPr>
              <a:t>Fired heaters / furnaces are the #1 energy user &amp; CO₂ source in refining (40–60%). They silently lose efficiency — fouling, excess O₂, burner imbalance — and operators can't correct in real time.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0832" y="1874519"/>
            <a:ext cx="365760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4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874519"/>
            <a:ext cx="3657600" cy="64008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01168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THE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743200"/>
            <a:ext cx="3291840" cy="2926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21B2B"/>
                </a:solidFill>
                <a:latin typeface="Segoe UI"/>
              </a:rPr>
              <a:t>An AI advisory layer that ingests existing sensor data, cleans it with chemical-engineering rules, and tells operators the setpoints to cut fuel &amp; CO₂ per ton. No control-system change. One unit, one KPI.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93024" y="1874519"/>
            <a:ext cx="365760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4" y="1874519"/>
            <a:ext cx="3657600" cy="64008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201168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THE CUSTOMER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2743200"/>
            <a:ext cx="3291840" cy="2926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21B2B"/>
                </a:solidFill>
                <a:latin typeface="Segoe UI"/>
              </a:rPr>
              <a:t>ADNOC Gas / ADNOC Refining. A single-furnace pilot, brokered by Hub71 — whose entire value proposition is access to ADNOC.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FC9BF"/>
                </a:solidFill>
                <a:latin typeface="Segoe UI"/>
              </a:rPr>
              <a:t>THE ONE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60704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Why furnaces — the biggest, clearest prize in the plant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B6B7E"/>
                </a:solidFill>
                <a:latin typeface="Segoe U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7A6"/>
                </a:solidFill>
                <a:latin typeface="Segoe UI"/>
              </a:rPr>
              <a:t>The One Bet  |  Trio (IIT Madras, ChemE × ML)  |  Hub71 Abu Dhabi  |  v1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554480"/>
          <a:ext cx="448056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532120"/>
            <a:ext cx="44805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21B2B"/>
                </a:solidFill>
                <a:latin typeface="Segoe UI"/>
              </a:rPr>
              <a:t>Furnaces burn 40–60% of all refinery energy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B7E"/>
                </a:solidFill>
                <a:latin typeface="Segoe UI"/>
              </a:rPr>
              <a:t>(midpoint shown). The single largest lever.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1554480"/>
            <a:ext cx="6309360" cy="40233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1737360"/>
            <a:ext cx="5852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9A8E"/>
                </a:solidFill>
                <a:latin typeface="Segoe UI"/>
              </a:rPr>
              <a:t>WHY IT STAYS BROKEN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2240280"/>
            <a:ext cx="5852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400" b="0">
                <a:solidFill>
                  <a:srgbClr val="121B2B"/>
                </a:solidFill>
                <a:latin typeface="Segoe UI"/>
              </a:rPr>
              <a:t>▸  Efficiency drifts daily: tube fouling, wrong excess-O₂, unbalanced burners — invisible without analysis.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400" b="0">
                <a:solidFill>
                  <a:srgbClr val="121B2B"/>
                </a:solidFill>
                <a:latin typeface="Segoe UI"/>
              </a:rPr>
              <a:t>▸  Operators get no real-time, trustworthy guidance — a manual energy audit takes weeks.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C0392B"/>
                </a:solidFill>
                <a:latin typeface="Segoe UI"/>
              </a:rPr>
              <a:t>▸  AI can't help today because the data is dirty: bad sensors, wrong tags, missing lab values.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400" b="0">
                <a:solidFill>
                  <a:srgbClr val="121B2B"/>
                </a:solidFill>
                <a:latin typeface="Segoe UI"/>
              </a:rPr>
              <a:t>▸  Result: avoidable fuel cost + avoidable CO₂, every hour, on every heater.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E88A1A"/>
                </a:solidFill>
                <a:latin typeface="Segoe UI"/>
              </a:rPr>
              <a:t>▸  Every 2–3% of furnace fuel saved = large $ and tonnes of CO₂ — directly on ADNOC's Net-Zero scorecard.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FC9BF"/>
                </a:solidFill>
                <a:latin typeface="Segoe UI"/>
              </a:rPr>
              <a:t>THE ONE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60704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Clean the data with chemistry, then advise — don't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B6B7E"/>
                </a:solidFill>
                <a:latin typeface="Segoe U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7A6"/>
                </a:solidFill>
                <a:latin typeface="Segoe UI"/>
              </a:rPr>
              <a:t>The One Bet  |  Trio (IIT Madras, ChemE × ML)  |  Hub71 Abu Dhabi  |  v1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3520440" cy="2011680"/>
          </a:xfrm>
          <a:prstGeom prst="rect">
            <a:avLst/>
          </a:prstGeom>
          <a:solidFill>
            <a:srgbClr val="FFFFFF"/>
          </a:solidFill>
          <a:ln w="31750">
            <a:solidFill>
              <a:srgbClr val="14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3520440" cy="56692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31089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1  INGEST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310896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21B2B"/>
                </a:solidFill>
                <a:latin typeface="Segoe UI"/>
              </a:rPr>
              <a:t>Existing DCS / sensor / lab data. No new hardware.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96512" y="2331720"/>
            <a:ext cx="310896" cy="457200"/>
          </a:xfrm>
          <a:prstGeom prst="rightArrow">
            <a:avLst/>
          </a:prstGeom>
          <a:solidFill>
            <a:srgbClr val="5B6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554480"/>
            <a:ext cx="3520440" cy="2011680"/>
          </a:xfrm>
          <a:prstGeom prst="rect">
            <a:avLst/>
          </a:prstGeom>
          <a:solidFill>
            <a:srgbClr val="FFFFFF"/>
          </a:solidFill>
          <a:ln w="31750">
            <a:solidFill>
              <a:srgbClr val="129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554480"/>
            <a:ext cx="3520440" cy="566928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645920"/>
            <a:ext cx="31089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2  CLEAN (our moat)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286000"/>
            <a:ext cx="310896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21B2B"/>
                </a:solidFill>
                <a:latin typeface="Segoe UI"/>
              </a:rPr>
              <a:t>Chemical-engineering physics rules detect bad sensors, wrong tags, impossible values — make data AI-ready.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982712" y="2331720"/>
            <a:ext cx="310896" cy="457200"/>
          </a:xfrm>
          <a:prstGeom prst="rightArrow">
            <a:avLst/>
          </a:prstGeom>
          <a:solidFill>
            <a:srgbClr val="5B6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1554480"/>
            <a:ext cx="3520440" cy="2011680"/>
          </a:xfrm>
          <a:prstGeom prst="rect">
            <a:avLst/>
          </a:prstGeom>
          <a:solidFill>
            <a:srgbClr val="FFFFFF"/>
          </a:solidFill>
          <a:ln w="317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554480"/>
            <a:ext cx="3520440" cy="56692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1645920"/>
            <a:ext cx="31089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3  ADVISE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286000"/>
            <a:ext cx="310896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21B2B"/>
                </a:solidFill>
                <a:latin typeface="Segoe UI"/>
              </a:rPr>
              <a:t>Real-time setpoint recommendations to cut fuel + CO₂. Operator stays in control.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886200"/>
            <a:ext cx="11109960" cy="1874519"/>
          </a:xfrm>
          <a:prstGeom prst="rect">
            <a:avLst/>
          </a:prstGeom>
          <a:solidFill>
            <a:srgbClr val="12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886200"/>
            <a:ext cx="63500" cy="1874519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023360"/>
            <a:ext cx="106070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FC9BF"/>
                </a:solidFill>
                <a:latin typeface="Segoe UI"/>
              </a:rPr>
              <a:t>WHY THIS SCOPE IS DELIBERATELY NARROW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48056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CFD8E2"/>
                </a:solidFill>
                <a:latin typeface="Segoe UI"/>
              </a:rPr>
              <a:t>✓  ONE unit (fired heaters) + ONE KPI (fuel &amp; CO₂ / ton) = a pre-MVP team can actually build &amp; prove it.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CFD8E2"/>
                </a:solidFill>
                <a:latin typeface="Segoe UI"/>
              </a:rPr>
              <a:t>✓  Advisory-only = no safety/control risk → far easier to get a pilot approved inside a refinery.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6FC9BF"/>
                </a:solidFill>
                <a:latin typeface="Segoe UI"/>
              </a:rPr>
              <a:t>✓  The data-cleaning engine is the real moat and is reusable later for every other unit (expansion path).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FC9BF"/>
                </a:solidFill>
                <a:latin typeface="Segoe UI"/>
              </a:rPr>
              <a:t>THE ONE 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60704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ADNOC — and Hub71 is literally the bridge to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B6B7E"/>
                </a:solidFill>
                <a:latin typeface="Segoe U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7A6"/>
                </a:solidFill>
                <a:latin typeface="Segoe UI"/>
              </a:rPr>
              <a:t>The One Bet  |  Trio (IIT Madras, ChemE × ML)  |  Hub71 Abu Dhabi  |  v1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463040"/>
          <a:ext cx="612648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623560"/>
            <a:ext cx="61264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1B2B"/>
                </a:solidFill>
                <a:latin typeface="Segoe UI"/>
              </a:rPr>
              <a:t>ADNOC is already spending — and shifting from AI pilots to enterprise-wide rollout (2025).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1463040"/>
            <a:ext cx="4800600" cy="41148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627632"/>
            <a:ext cx="4389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9A8E"/>
                </a:solidFill>
                <a:latin typeface="Segoe UI"/>
              </a:rPr>
              <a:t>WHY ADNOC, WHY 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103120"/>
            <a:ext cx="43891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400" b="0">
                <a:solidFill>
                  <a:srgbClr val="121B2B"/>
                </a:solidFill>
                <a:latin typeface="Segoe UI"/>
              </a:rPr>
              <a:t>▸  Net Zero 2045 + CCUS 10 mtpa by 2030 → furnace fuel/CO₂ savings hit a board-level KPI.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400" b="0">
                <a:solidFill>
                  <a:srgbClr val="121B2B"/>
                </a:solidFill>
                <a:latin typeface="Segoe UI"/>
              </a:rPr>
              <a:t>▸  Hub71's #1 asset is access to ADNOC &amp; 150+ corporate partners. Naming ADNOC = perfect alignment.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400" b="0">
                <a:solidFill>
                  <a:srgbClr val="121B2B"/>
                </a:solidFill>
                <a:latin typeface="Segoe UI"/>
              </a:rPr>
              <a:t>▸  We don't displace AIQ/Accenture's big platform — we plug in as a specialist furnace layer.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E88A1A"/>
                </a:solidFill>
                <a:latin typeface="Segoe UI"/>
              </a:rPr>
              <a:t>▸  Pilot beachhead: ONE fired heater → prove savings → expand across the fleet.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FC9BF"/>
                </a:solidFill>
                <a:latin typeface="Segoe UI"/>
              </a:rPr>
              <a:t>WHY THIS GETS US INCUBATED EASILY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60704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Scored against Hub71's actual selection criteria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B6B7E"/>
                </a:solidFill>
                <a:latin typeface="Segoe U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7A6"/>
                </a:solidFill>
                <a:latin typeface="Segoe UI"/>
              </a:rPr>
              <a:t>The One Bet  |  Trio (IIT Madras, ChemE × ML)  |  Hub71 Abu Dhabi  |  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09728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B6B7E"/>
                </a:solidFill>
                <a:latin typeface="Segoe UI"/>
              </a:rPr>
              <a:t>Our honest 1–5 assessment of three candidate ideas. The furnace bet wins on every axis that matters to Hub71.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1691640"/>
          <a:ext cx="1110996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FC9BF"/>
                </a:solidFill>
                <a:latin typeface="Segoe UI"/>
              </a:rPr>
              <a:t>THE HARD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60704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Answering the objections before they're asked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B6B7E"/>
                </a:solidFill>
                <a:latin typeface="Segoe U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7A6"/>
                </a:solidFill>
                <a:latin typeface="Segoe UI"/>
              </a:rPr>
              <a:t>The One Bet  |  Trio (IIT Madras, ChemE × ML)  |  Hub71 Abu Dhabi  |  v1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11109960" cy="11887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63500" cy="118872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35608"/>
            <a:ext cx="106984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9A8E"/>
                </a:solidFill>
                <a:latin typeface="Segoe UI"/>
              </a:rPr>
              <a:t>“AspenTech / AVEVA / Honeywell already do this.”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56232"/>
            <a:ext cx="106984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21B2B"/>
                </a:solidFill>
                <a:latin typeface="Segoe UI"/>
              </a:rPr>
              <a:t>They assume clean data and sell heavy platforms. We start where they're weak — data cleaning + a single high-ROI unit — as a light, advisory pilot. We can integrate with them, not fight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24328"/>
            <a:ext cx="11109960" cy="11887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624328"/>
            <a:ext cx="63500" cy="118872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734056"/>
            <a:ext cx="106984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2A4A"/>
                </a:solidFill>
                <a:latin typeface="Segoe UI"/>
              </a:rPr>
              <a:t>“Can 3 people really build this?”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154680"/>
            <a:ext cx="106984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21B2B"/>
                </a:solidFill>
                <a:latin typeface="Segoe UI"/>
              </a:rPr>
              <a:t>Scope is one unit + one KPI, advisory-only, on existing data. That's a focused ML + ChemE problem — exactly our team's shape. We're not building a control system.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922776"/>
            <a:ext cx="11109960" cy="11887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922776"/>
            <a:ext cx="63500" cy="118872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032504"/>
            <a:ext cx="106984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88A1A"/>
                </a:solidFill>
                <a:latin typeface="Segoe UI"/>
              </a:rPr>
              <a:t>“Why would ADNOC pilot with a pre-MVP startup?”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453128"/>
            <a:ext cx="106984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21B2B"/>
                </a:solidFill>
                <a:latin typeface="Segoe UI"/>
              </a:rPr>
              <a:t>Low risk (advisory, no rewiring), high alignment (Net-Zero KPI), and Hub71 de-risks the intro. ADNOC is explicitly funding outside AI suppliers right now.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221224"/>
            <a:ext cx="11109960" cy="11887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221224"/>
            <a:ext cx="63500" cy="1188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330952"/>
            <a:ext cx="106984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0392B"/>
                </a:solidFill>
                <a:latin typeface="Segoe UI"/>
              </a:rPr>
              <a:t>“Is this really ClimateTech, or just efficiency?”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751576"/>
            <a:ext cx="106984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21B2B"/>
                </a:solidFill>
                <a:latin typeface="Segoe UI"/>
              </a:rPr>
              <a:t>Furnace fuel = direct Scope-1 CO₂. Every % saved is measurable avoided emissions — it qualifies for Hub71+ ClimateTech AND Hub71+ AI.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FC9BF"/>
                </a:solidFill>
                <a:latin typeface="Segoe UI"/>
              </a:rPr>
              <a:t>THE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60704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What we do in the 90 days around the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B6B7E"/>
                </a:solidFill>
                <a:latin typeface="Segoe U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7A6"/>
                </a:solidFill>
                <a:latin typeface="Segoe UI"/>
              </a:rPr>
              <a:t>The One Bet  |  Trio (IIT Madras, ChemE × ML)  |  Hub71 Abu Dhabi  |  v1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356616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29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3566160" cy="86868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645920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DAYS 0–30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938528"/>
            <a:ext cx="3200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606040"/>
            <a:ext cx="3200400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21B2B"/>
                </a:solidFill>
                <a:latin typeface="Segoe UI"/>
              </a:rPr>
              <a:t>Lock the furnace problem with 3–5 process engineers. Build the data-cleaning prototype on public/synthetic refinery data.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114800" y="2697480"/>
            <a:ext cx="274320" cy="457200"/>
          </a:xfrm>
          <a:prstGeom prst="rightArrow">
            <a:avLst/>
          </a:prstGeom>
          <a:solidFill>
            <a:srgbClr val="5B6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8" y="1554480"/>
            <a:ext cx="356616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4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7408" y="1554480"/>
            <a:ext cx="3566160" cy="86868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8576" y="1645920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DAYS 30–60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1938528"/>
            <a:ext cx="3200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Prove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2606040"/>
            <a:ext cx="3200400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21B2B"/>
                </a:solidFill>
                <a:latin typeface="Segoe UI"/>
              </a:rPr>
              <a:t>Demo: dirty furnace data → clean → fuel/CO₂-saving recommendation. Quantify illustrative savings. Build the pitch deck.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973568" y="2697480"/>
            <a:ext cx="274320" cy="457200"/>
          </a:xfrm>
          <a:prstGeom prst="rightArrow">
            <a:avLst/>
          </a:prstGeom>
          <a:solidFill>
            <a:srgbClr val="5B6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66176" y="1554480"/>
            <a:ext cx="356616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66176" y="1554480"/>
            <a:ext cx="3566160" cy="86868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1645920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DAYS 60–90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1938528"/>
            <a:ext cx="3200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Apply &amp; connect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2606040"/>
            <a:ext cx="3200400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21B2B"/>
                </a:solidFill>
                <a:latin typeface="Segoe UI"/>
              </a:rPr>
              <a:t>Submit Hub71 Initiate. Use IIT-Madras + India–UAE corridor to line up an ADNOC / refinery design-partner conversation.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572000"/>
            <a:ext cx="11109960" cy="1280160"/>
          </a:xfrm>
          <a:prstGeom prst="rect">
            <a:avLst/>
          </a:prstGeom>
          <a:solidFill>
            <a:srgbClr val="12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572000"/>
            <a:ext cx="63500" cy="128016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10607040" cy="10058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FC9BF"/>
                </a:solidFill>
                <a:latin typeface="Segoe UI"/>
              </a:rPr>
              <a:t>The bet in one line:  </a:t>
            </a:r>
            <a:r>
              <a:rPr sz="1700" b="0">
                <a:solidFill>
                  <a:srgbClr val="FFFFFF"/>
                </a:solidFill>
                <a:latin typeface="Segoe UI"/>
              </a:rPr>
              <a:t>Win the furnace, win ADNOC's trust, then expand the data-cleaning engine to every other unit. Narrow door, big room behind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